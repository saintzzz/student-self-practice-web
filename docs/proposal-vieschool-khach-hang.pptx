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TÀI LIỆU GIỚI THIỆU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F4F6FB"/>
                </a:solidFill>
                <a:latin typeface="Avenir Next"/>
              </a:rPr>
              <a:t>VieSchool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BA6C4"/>
                </a:solidFill>
                <a:latin typeface="Avenir Next"/>
              </a:rPr>
              <a:t>Hệ sinh thái số cho trường học Việt Nam</a:t>
            </a:r>
          </a:p>
          <a:p>
            <a:pPr algn="l"/>
            <a:r>
              <a:rPr sz="2000" b="0">
                <a:solidFill>
                  <a:srgbClr val="9BA6C4"/>
                </a:solidFill>
                <a:latin typeface="Avenir Next"/>
              </a:rPr>
              <a:t>Một nền tảng - ba sản phẩm - hỗ trợ lớp 1 đến lớp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A6C4"/>
                </a:solidFill>
                <a:latin typeface="Avenir Next"/>
              </a:rPr>
              <a:t>vieschool.com | ea.vieschool.com | congcuso.vieschool.com | sochunhiem.vieschool.com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A6C4"/>
                </a:solidFill>
                <a:latin typeface="Avenir Next"/>
              </a:rPr>
              <a:t>Dành cho nhà trường, giáo viên và phụ huynh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VIESCHOOL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3 sản phẩm - 1 hệ sinh thái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A6C4"/>
                </a:solidFill>
                <a:latin typeface="Avenir Next"/>
              </a:rPr>
              <a:t>Vận hành độc lập nhưng cùng một nhận diện và tài khoản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65176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Sản phẩm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Địa chỉ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Dành cho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Nội dung chính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English Arena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ea.vieschool.com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Học sinh lớp 1-5 (lộ trình 6-12)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Luyện Tiếng Anh, Toán và Khoa học tiếng Anh bám SGK Global Success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Công cụ số Giáo viên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congcuso.vieschool.com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Giáo viên các cấp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12 công cụ biên soạn học liệu theo CTGDPT 2018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Sổ Chủ Nhiệm Số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sochunhiem.vieschool.com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Nhà trường, GVCN, BGH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Số hóa công tác chủ nhiệm theo Điều lệ trường mới nhất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SẢN PHẨM CHỦ LỰC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English Arena - học mà chơi, chơi mà học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86400" cy="160020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11.400+ câu hỏi có giải thích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6FB"/>
                </a:solidFill>
                <a:latin typeface="Avenir Next"/>
              </a:rPr>
              <a:t>Bám SGK Global Success lớp 1-5 - mỗi câu kèm đáp án và giải thích</a:t>
            </a:r>
          </a:p>
          <a:p>
            <a:pPr algn="l"/>
            <a:r>
              <a:rPr sz="1100" b="0">
                <a:solidFill>
                  <a:srgbClr val="F4F6FB"/>
                </a:solidFill>
                <a:latin typeface="Avenir Next"/>
              </a:rPr>
              <a:t>tiếng Việt đã kiểm duyệt, hình minh họa bản quyền rõ ràng.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486400" cy="160020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270 đề thi + luyện đề theo khối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8424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6FB"/>
                </a:solidFill>
                <a:latin typeface="Avenir Next"/>
              </a:rPr>
              <a:t>Đề thi chuẩn theo format đề IOE - số câu và thời gian chỉnh riêng</a:t>
            </a:r>
          </a:p>
          <a:p>
            <a:pPr algn="l"/>
            <a:r>
              <a:rPr sz="1100" b="0">
                <a:solidFill>
                  <a:srgbClr val="F4F6FB"/>
                </a:solidFill>
                <a:latin typeface="Avenir Next"/>
              </a:rPr>
              <a:t>từng khối. Ôn luyện có đồng hồ đo giờ, câu sai tự vào hàng đợi ôn lại.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5486400" cy="160020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3 môn luyện bằng tiếng Anh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7588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6FB"/>
                </a:solidFill>
                <a:latin typeface="Avenir Next"/>
              </a:rPr>
              <a:t>Tiếng Anh + Toán tiếng Anh + Khoa học tiếng Anh trong cùng app -</a:t>
            </a:r>
          </a:p>
          <a:p>
            <a:pPr algn="l"/>
            <a:r>
              <a:rPr sz="1100" b="0">
                <a:solidFill>
                  <a:srgbClr val="F4F6FB"/>
                </a:solidFill>
                <a:latin typeface="Avenir Next"/>
              </a:rPr>
              <a:t>đúng nhu cầu luyện IOE và Violympic của phụ huynh.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5486400" cy="160020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Cá nhân hóa theo điểm yếu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7588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6FB"/>
                </a:solidFill>
                <a:latin typeface="Avenir Next"/>
              </a:rPr>
              <a:t>Hệ thống tự phân tích kỹ năng còn yếu sau 1 tuần làm bài và gợi ý</a:t>
            </a:r>
          </a:p>
          <a:p>
            <a:pPr algn="l"/>
            <a:r>
              <a:rPr sz="1100" b="0">
                <a:solidFill>
                  <a:srgbClr val="F4F6FB"/>
                </a:solidFill>
                <a:latin typeface="Avenir Next"/>
              </a:rPr>
              <a:t>bài ôn riêng cho từng em. Chế độ Nâng cao cho học sinh muốn thử thách.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5486400" cy="160020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Thi đua &amp; an toàn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6752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6FB"/>
                </a:solidFill>
                <a:latin typeface="Avenir Next"/>
              </a:rPr>
              <a:t>Bảng xếp hạng tuần, đấu trường 1v1, sao - huy hiệu - chuỗi ngày học.</a:t>
            </a:r>
          </a:p>
          <a:p>
            <a:pPr algn="l"/>
            <a:r>
              <a:rPr sz="1100" b="0">
                <a:solidFill>
                  <a:srgbClr val="F4F6FB"/>
                </a:solidFill>
                <a:latin typeface="Avenir Next"/>
              </a:rPr>
              <a:t>Vào lớp bằng mã 6 ký tự. Không quảng cáo, không chat.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SO SÁNH ĐỐI THỦ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English Arena vs các lựa chọn hiện có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A6C4"/>
                </a:solidFill>
                <a:latin typeface="Avenir Next"/>
              </a:rPr>
              <a:t>Bảng so sánh trung thực - gồm cả điểm đối thủ làm tốt hơn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2834640"/>
                <a:gridCol w="2834640"/>
              </a:tblGrid>
              <a:tr h="653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Tiêu chí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English Arena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App quốc tế</a:t>
                      </a:r>
                    </a:p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(Duolingo, Khan Kids)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App nội địa</a:t>
                      </a:r>
                    </a:p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(Monkey, VioEdu)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Bám SGK Việt Nam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Trọn Global Success lớp 1-5,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mỗi câu kèm giải thích tiếng Việt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Không theo chương trình VN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Theo chương trình chung,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không bám từng unit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Trải nghiệm trẻ em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Thế giới phiêu lưu, mascot,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sao - huy hiệu - sticker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Rất tốt - đồ họa đầu tư lớn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Đa số form trắc nghiệm, UI khô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Môn luyện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Tiếng Anh + Toán tiếng Anh +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Khoa học tiếng Anh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Chủ yếu tiếng Anh/ngôn ngữ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Tách nhiều app/gói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cho từng môn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Mô hình trường học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Trường cấp tài khoản,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GV quản lý lớp, báo cáo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Không có quản lý lớp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kiểu trường VN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Một số có,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thường phức tạp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Chi phí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Miễn phí chơi thử;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gói gia đình + gói trường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Đắt (thu bằng USD)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Trung bình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Điểm yếu của chúng tôi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Mới phủ lớp 1-5 (lộ trình 6-12);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vốn từ nhỏ hơn app quốc tế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SO SÁNH ĐỐI THỦ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Công cụ số Giáo viên vs các lựa chọn hiện có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383280"/>
                <a:gridCol w="2743200"/>
                <a:gridCol w="2743200"/>
              </a:tblGrid>
              <a:tr h="7680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Tiêu chí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TVC360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MagicSchool (Mỹ)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Azota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Chương trình áp dụng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CTGDPT 2018 (gồm sửa đổi của TT 17/2025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cho Lịch sử, Địa lí, GDCD), gắn mã YCCĐ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Chuẩn Mỹ - không áp cho VN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Theo cấu trúc đề thi VN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Phạm vi công cụ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12 công cụ: ngân hàng câu hỏi,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ma trận, đề thi, kế hoạch bài dạy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60+ công cụ nhưng toàn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tiếng Anh, prompt Mỹ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Chấm điểm, ngân hàng đề -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mạnh về thi cử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Xuất tài liệu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DOCX có công thức toán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Word-native + PDF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Text / copy-paste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DOCX / PDF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Điểm yếu của chúng tôi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Ngân hàng câu hỏi cộng đồng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nhỏ hơn Azota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SO SÁNH ĐỐI THỦ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Sổ Chủ Nhiệm Số vs các lựa chọn hiện có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83280"/>
                <a:gridCol w="2834640"/>
                <a:gridCol w="2834640"/>
              </a:tblGrid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Tiêu chí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Sổ Chủ Nhiệm Số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Hệ MIS lớn (vnEdu, SMAS)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Sổ giấy / Excel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Phạm vi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Tập trung đúng công tác chủ nhiệm: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điểm danh, hạnh kiểm, sổ điểm,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thông báo PH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MIS toàn trường: học phí,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nhân sự, tài chính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Thủ công, dễ sai lệch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Độ khó triển khai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Mở trình duyệt là dùng;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demo trong 5 phút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Triển khai dài, cần đào tạo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Không cần triển khai nhưng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tốn công hàng ngày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Chuẩn quy định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Điều lệ trường mới nhất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(TT 15/2026/TT-BGDĐT)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Đa số cập nhật chậm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Không có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Chi phí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Tính theo học sinh, phù hợp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trường vừa và nhỏ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Đắt, gói lớn bắt buộc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Miễn phí nhưng tốn công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Điểm yếu của chúng tôi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Không thay thế MIS toàn trường</a:t>
                      </a:r>
                    </a:p>
                    <a:p>
                      <a:r>
                        <a:rPr sz="1100" b="0">
                          <a:solidFill>
                            <a:srgbClr val="F4F6FB"/>
                          </a:solidFill>
                          <a:latin typeface="Avenir Next"/>
                        </a:rPr>
                        <a:t>(chưa có học phí, nhân sự)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HƯỚNG DẪN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English Arena - ea.vieschool.com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B"/>
                </a:solidFill>
                <a:latin typeface="Avenir Next"/>
              </a:rPr>
              <a:t>- Mở ea.vieschool.com từ trình duyệt bất kỳ - không cần cài đặt.</a:t>
            </a:r>
          </a:p>
          <a:p>
            <a:pPr algn="l"/>
            <a:r>
              <a:rPr sz="1300" b="0">
                <a:solidFill>
                  <a:srgbClr val="F4F6FB"/>
                </a:solidFill>
                <a:latin typeface="Avenir Next"/>
              </a:rPr>
              <a:t>- Chưa có tài khoản: nhấn 'Chơi không cần tài khoản' - 1 vòng miễn phí mỗi lớp.</a:t>
            </a:r>
          </a:p>
          <a:p>
            <a:pPr algn="l"/>
            <a:r>
              <a:rPr sz="1300" b="0">
                <a:solidFill>
                  <a:srgbClr val="F4F6FB"/>
                </a:solidFill>
                <a:latin typeface="Avenir Next"/>
              </a:rPr>
              <a:t>- Học sinh: đăng nhập username + PIN do giáo viên cấp, tự đổi PIN khi cần.</a:t>
            </a:r>
          </a:p>
          <a:p>
            <a:pPr algn="l"/>
            <a:r>
              <a:rPr sz="1300" b="0">
                <a:solidFill>
                  <a:srgbClr val="F4F6FB"/>
                </a:solidFill>
                <a:latin typeface="Avenir Next"/>
              </a:rPr>
              <a:t>- Chọn khối - chọn môn (Tiếng Anh / Toán / Khoa học) - Luyện đề có đồng hồ đo giờ, Thi thử đếm ngược.</a:t>
            </a:r>
          </a:p>
          <a:p>
            <a:pPr algn="l"/>
            <a:r>
              <a:rPr sz="1300" b="0">
                <a:solidFill>
                  <a:srgbClr val="F4F6FB"/>
                </a:solidFill>
                <a:latin typeface="Avenir Next"/>
              </a:rPr>
              <a:t>- Vào lớp: nhập mã lớp 6 ký tự cô gửi (VD lớp demo: R8WHYF) - không cần admin gán tay.</a:t>
            </a:r>
          </a:p>
          <a:p>
            <a:pPr algn="l"/>
            <a:r>
              <a:rPr sz="1300" b="0">
                <a:solidFill>
                  <a:srgbClr val="F4F6FB"/>
                </a:solidFill>
                <a:latin typeface="Avenir Next"/>
              </a:rPr>
              <a:t>- Quản trị: tạo tài khoản học sinh, tạo lớp sinh mã tự động, gán phạm vi lớp, xem tiến độ.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1089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1645920"/>
                <a:gridCol w="5029200"/>
              </a:tblGrid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Vai trò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Username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PIN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Phạm vi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Quản trị viên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demo_admin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********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Console quản trị: tạo tài khoản, gán lớp, báo cáo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Học sinh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demo_hs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********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Đủ 5 khối lớp 1-5, đủ 4 vòng, lưu tiến độ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Khách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-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-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1 vòng miễn phí mỗi lớp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HƯỚNG DẪN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Công cụ số Giáo viên - congcuso.vieschool.com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F6FB"/>
                </a:solidFill>
                <a:latin typeface="Avenir Next"/>
              </a:rPr>
              <a:t>- Đăng nhập bằng email + mật khẩu; đổi mật khẩu ngay trong tài khoản.</a:t>
            </a:r>
          </a:p>
          <a:p>
            <a:pPr algn="l"/>
            <a:r>
              <a:rPr sz="1300" b="0">
                <a:solidFill>
                  <a:srgbClr val="F4F6FB"/>
                </a:solidFill>
                <a:latin typeface="Avenir Next"/>
              </a:rPr>
              <a:t>- Giáo viên: chọn công cụ (ngân hàng câu hỏi, ma trận, đề thi...) - nhập yêu cầu - tạo nội dung.</a:t>
            </a:r>
          </a:p>
          <a:p>
            <a:pPr algn="l"/>
            <a:r>
              <a:rPr sz="1300" b="0">
                <a:solidFill>
                  <a:srgbClr val="F4F6FB"/>
                </a:solidFill>
                <a:latin typeface="Avenir Next"/>
              </a:rPr>
              <a:t>- Kiểm định: duyệt nội dung trước khi công khai trong thư viện chung.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1089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0624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Vai trò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Email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Mật khẩu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Quản trị viên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admin@demo.tvc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********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Giáo viên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gv@demo.tvc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********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Kiểm định viên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kd@demo.tvc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********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HƯỚNG DẪN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Sổ Chủ Nhiệm Số - sochunhiem.vieschool.com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A6C4"/>
                </a:solidFill>
                <a:latin typeface="Avenir Next"/>
              </a:rPr>
              <a:t>Đăng nhập email + mật khẩu - hệ thống tự vào đúng màn hình theo vai trò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  <a:gridCol w="2194560"/>
                <a:gridCol w="3383280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Vai trò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Email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Vai trò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Email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Ban giám hiệu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bgh@demo.scn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Tổ trưởng CM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totruong@demo.scn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Phó hiệu trưởng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pht@demo.scn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Kế toán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ketoan@demo.scn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GV chủ nhiệm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gvcn@demo.scn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Học sinh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hocsinh@demo.scn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GV bộ môn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gvbm@demo.scn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Phụ huynh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phuhuynh@demo.scn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Sở GD&amp;ĐT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sogd@demo.scn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UBND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ubnd@demo.scn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BA6C4"/>
                </a:solidFill>
                <a:latin typeface="Avenir Next"/>
              </a:rPr>
              <a:t>Mật khẩu chung tất cả tài khoản demo: ********  |  Kịch bản 10 phút: vieschool.com → chơi thử English Arena → login TVC360 → login Sổ CN theo vai trò.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GIÁ NIÊM 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English Arena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5303520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Gói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Giá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Quyền lợi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Khách (Guest)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Miễn phí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Chơi thử 1 vòng mỗi lớp, không cần tài khoản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Gia đình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249.000đ / 6 tháng</a:t>
                      </a:r>
                    </a:p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hoặc 399.000đ / năm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Đủ 5 khối, đủ 4 vòng, lưu tiến độ và thành tích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Nhóm lớp (PH mua)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199.000đ / học sinh / năm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Tối thiểu 15 học sinh; vào lớp tự phục vụ bằng mã lớp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Nhà trường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99.000đ / học sinh / năm</a:t>
                      </a:r>
                    </a:p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(79.000đ từ 300 HS)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Console quản lý lớp, báo cáo; 800+ HS báo giá riêng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GIÁ NIÊM 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Công cụ số Giáo viên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530352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Gói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Giá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Quyền lợi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Giáo viên lẻ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299.000đ / giáo viên / năm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Đủ 12 công cụ, xuất DOCX/PDF không giới hạn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Nhà trường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199.000đ / giáo viên / năm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Từ 10 giáo viên; kèm luồng kiểm định nội bộ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GIÁ NIÊM 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Sổ Chủ Nhiệm Số + gói trọn bộ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530352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Gói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Giá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1224"/>
                          </a:solidFill>
                          <a:latin typeface="Avenir Next"/>
                        </a:rPr>
                        <a:t>Quyền lợi</a:t>
                      </a:r>
                    </a:p>
                  </a:txBody>
                  <a:tcPr marT="38100" marB="38100">
                    <a:solidFill>
                      <a:srgbClr val="F2C95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Theo học sinh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15.000 - 25.000đ / học sinh / năm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4F6FB"/>
                          </a:solidFill>
                          <a:latin typeface="Avenir Next"/>
                        </a:rPr>
                        <a:t>Theo quy mô trường; đủ module chủ nhiệm, điểm, hạnh kiểm</a:t>
                      </a:r>
                    </a:p>
                  </a:txBody>
                  <a:tcPr marT="38100" marB="38100">
                    <a:solidFill>
                      <a:srgbClr val="121B3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A6C4"/>
                </a:solidFill>
                <a:latin typeface="Avenir Next"/>
              </a:rPr>
              <a:t>Gói trọn bộ: trường dùng đồng thời cả 3 sản phẩm được giá bundle ưu đãi - báo giá cụ thể theo số lượng học sinh và giáo viên.</a:t>
            </a:r>
          </a:p>
          <a:p>
            <a:pPr algn="l"/>
            <a:r>
              <a:rPr sz="1400" b="0">
                <a:solidFill>
                  <a:srgbClr val="9BA6C4"/>
                </a:solidFill>
                <a:latin typeface="Avenir Next"/>
              </a:rPr>
              <a:t>Mọi gói gồm: hỗ trợ triển khai ban đầu, hướng dẫn sử dụng, bảo hành tính năng trong thời hạn gói.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VÌ SAO CHỌN VIESCHOOL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6FB"/>
                </a:solidFill>
                <a:latin typeface="Avenir Next"/>
              </a:rPr>
              <a:t>Đúng chương trình Việt - trải nghiệm chuẩn quốc tế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21488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Đúng chương trình 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Bám SGK Tiếng Anh Global Success theo CTGDPT 2018.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Luyện trên app là học đúng điều đang học trên lớp.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486400" cy="21488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Trọn trong một hệ sinh thái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04288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Một nền tảng thay ba ứng dụng rời rạc - cùng nhận diện,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cùng đội hỗ trợ, cùng một hợp đồng.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79"/>
            <a:ext cx="5486400" cy="21488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Trọng tâm là trẻ 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36007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Không quảng cáo, không chat công khai. Nút chạm lớn,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giọng đọc chậm rõ, giải thích tiếng Việt khi trả lời sai.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79"/>
            <a:ext cx="5486400" cy="21488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062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Theo kịp quy định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636007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Sổ chủ nhiệm và công cụ giáo viên cập nhật theo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Điều lệ trường và thông tư mới nhất.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4F6FB"/>
                </a:solidFill>
                <a:latin typeface="Avenir Next"/>
              </a:rPr>
              <a:t>Trải nghiệm ngay hôm nay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A6C4"/>
                </a:solidFill>
                <a:latin typeface="Avenir Next"/>
              </a:rPr>
              <a:t>vieschool.com</a:t>
            </a:r>
          </a:p>
          <a:p>
            <a:pPr algn="l"/>
          </a:p>
          <a:p>
            <a:pPr algn="l"/>
            <a:r>
              <a:rPr sz="1800" b="0">
                <a:solidFill>
                  <a:srgbClr val="9BA6C4"/>
                </a:solidFill>
                <a:latin typeface="Avenir Next"/>
              </a:rPr>
              <a:t>Đội ngũ VieSchool hỗ trợ demo trực tiếp tại trường hoặc online.</a:t>
            </a:r>
          </a:p>
          <a:p>
            <a:pPr algn="l"/>
            <a:r>
              <a:rPr sz="1800" b="0">
                <a:solidFill>
                  <a:srgbClr val="9BA6C4"/>
                </a:solidFill>
                <a:latin typeface="Avenir Next"/>
              </a:rPr>
              <a:t>Tài khoản demo ở mục Hướng dẫn sử dụng - đăng nhập như người dùng thật.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