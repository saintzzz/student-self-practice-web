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2C957"/>
                </a:solidFill>
                <a:latin typeface="Avenir Next"/>
              </a:rPr>
              <a:t>TÀI LIỆU GIỚI THIỆU SẢN PHẨM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600" b="1">
                <a:solidFill>
                  <a:srgbClr val="F4F6FB"/>
                </a:solidFill>
                <a:latin typeface="Avenir Next"/>
              </a:rPr>
              <a:t>VieSchool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01752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9BA6C4"/>
                </a:solidFill>
                <a:latin typeface="Avenir Next"/>
              </a:rPr>
              <a:t>Hệ sinh thái số cho trường học Việt Nam</a:t>
            </a:r>
          </a:p>
          <a:p>
            <a:pPr algn="l"/>
            <a:r>
              <a:rPr sz="2000" b="0">
                <a:solidFill>
                  <a:srgbClr val="9BA6C4"/>
                </a:solidFill>
                <a:latin typeface="Avenir Next"/>
              </a:rPr>
              <a:t>Một nền tảng - ba sản phẩm - hỗ trợ lớp 1 đến lớp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377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9BA6C4"/>
                </a:solidFill>
                <a:latin typeface="Avenir Next"/>
              </a:rPr>
              <a:t>vieschool.com | ea.vieschool.com | congcuso.vieschool.com | sochunhiem.vieschool.com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43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BA6C4"/>
                </a:solidFill>
                <a:latin typeface="Avenir Next"/>
              </a:rPr>
              <a:t>Dành cho nhà trường, giáo viên và phụ huynh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2C957"/>
                </a:solidFill>
                <a:latin typeface="Avenir Next"/>
              </a:rPr>
              <a:t>VIESCHOOL LÀ GÌ?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4F6FB"/>
                </a:solidFill>
                <a:latin typeface="Avenir Next"/>
              </a:rPr>
              <a:t>3 sản phẩm - 1 hệ sinh thái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9BA6C4"/>
                </a:solidFill>
                <a:latin typeface="Avenir Next"/>
              </a:rPr>
              <a:t>Vận hành độc lập nhưng cùng một nhận diện và tài khoản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920240"/>
          <a:ext cx="1106424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377440"/>
                <a:gridCol w="2651760"/>
                <a:gridCol w="3657600"/>
              </a:tblGrid>
              <a:tr h="7772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1224"/>
                          </a:solidFill>
                          <a:latin typeface="Avenir Next"/>
                        </a:rPr>
                        <a:t>Sản phẩm</a:t>
                      </a:r>
                    </a:p>
                  </a:txBody>
                  <a:tcPr marT="38100" marB="38100">
                    <a:solidFill>
                      <a:srgbClr val="F2C95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1224"/>
                          </a:solidFill>
                          <a:latin typeface="Avenir Next"/>
                        </a:rPr>
                        <a:t>Địa chỉ</a:t>
                      </a:r>
                    </a:p>
                  </a:txBody>
                  <a:tcPr marT="38100" marB="38100">
                    <a:solidFill>
                      <a:srgbClr val="F2C95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1224"/>
                          </a:solidFill>
                          <a:latin typeface="Avenir Next"/>
                        </a:rPr>
                        <a:t>Dành cho</a:t>
                      </a:r>
                    </a:p>
                  </a:txBody>
                  <a:tcPr marT="38100" marB="38100">
                    <a:solidFill>
                      <a:srgbClr val="F2C95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1224"/>
                          </a:solidFill>
                          <a:latin typeface="Avenir Next"/>
                        </a:rPr>
                        <a:t>Nội dung chính</a:t>
                      </a:r>
                    </a:p>
                  </a:txBody>
                  <a:tcPr marT="38100" marB="38100">
                    <a:solidFill>
                      <a:srgbClr val="F2C957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English Arena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ea.vieschool.com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Học sinh lớp 1-5 (lộ trình 6-12)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Luyện Tiếng Anh, Toán và Khoa học tiếng Anh bám SGK Global Success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Công cụ số Giáo viên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congcuso.vieschool.com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Giáo viên các cấp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12 công cụ biên soạn học liệu theo CTGDPT 2018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Sổ Chủ Nhiệm Số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sochunhiem.vieschool.com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Nhà trường, GVCN, BGH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Số hóa công tác chủ nhiệm theo Điều lệ trường mới nhất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2C957"/>
                </a:solidFill>
                <a:latin typeface="Avenir Next"/>
              </a:rPr>
              <a:t>SẢN PHẨM CHỦ LỰC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4F6FB"/>
                </a:solidFill>
                <a:latin typeface="Avenir Next"/>
              </a:rPr>
              <a:t>English Arena - học mà chơi, chơi mà học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17320"/>
            <a:ext cx="5486400" cy="1600200"/>
          </a:xfrm>
          <a:prstGeom prst="roundRect">
            <a:avLst/>
          </a:prstGeom>
          <a:solidFill>
            <a:srgbClr val="121B33"/>
          </a:solidFill>
          <a:ln w="12700">
            <a:solidFill>
              <a:srgbClr val="2A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5544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2C957"/>
                </a:solidFill>
                <a:latin typeface="Avenir Next"/>
              </a:rPr>
              <a:t>11.400+ câu hỏi có giải thích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84248"/>
            <a:ext cx="50292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4F6FB"/>
                </a:solidFill>
                <a:latin typeface="Avenir Next"/>
              </a:rPr>
              <a:t>Bám SGK Global Success lớp 1-5 - mỗi câu kèm đáp án và giải thích</a:t>
            </a:r>
          </a:p>
          <a:p>
            <a:pPr algn="l"/>
            <a:r>
              <a:rPr sz="1100" b="0">
                <a:solidFill>
                  <a:srgbClr val="F4F6FB"/>
                </a:solidFill>
                <a:latin typeface="Avenir Next"/>
              </a:rPr>
              <a:t>tiếng Việt đã kiểm duyệt, hình minh họa bản quyền rõ ràng.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17320"/>
            <a:ext cx="5486400" cy="1600200"/>
          </a:xfrm>
          <a:prstGeom prst="roundRect">
            <a:avLst/>
          </a:prstGeom>
          <a:solidFill>
            <a:srgbClr val="121B33"/>
          </a:solidFill>
          <a:ln w="12700">
            <a:solidFill>
              <a:srgbClr val="2A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5544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2C957"/>
                </a:solidFill>
                <a:latin typeface="Avenir Next"/>
              </a:rPr>
              <a:t>270 đề thi + luyện đề theo khối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1984248"/>
            <a:ext cx="50292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4F6FB"/>
                </a:solidFill>
                <a:latin typeface="Avenir Next"/>
              </a:rPr>
              <a:t>Đề thi chuẩn theo format đề IOE - số câu và thời gian chỉnh riêng</a:t>
            </a:r>
          </a:p>
          <a:p>
            <a:pPr algn="l"/>
            <a:r>
              <a:rPr sz="1100" b="0">
                <a:solidFill>
                  <a:srgbClr val="F4F6FB"/>
                </a:solidFill>
                <a:latin typeface="Avenir Next"/>
              </a:rPr>
              <a:t>từng khối. Ôn luyện có đồng hồ đo giờ, câu sai tự vào hàng đợi ôn lại.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108960"/>
            <a:ext cx="5486400" cy="1600200"/>
          </a:xfrm>
          <a:prstGeom prst="roundRect">
            <a:avLst/>
          </a:prstGeom>
          <a:solidFill>
            <a:srgbClr val="121B33"/>
          </a:solidFill>
          <a:ln w="12700">
            <a:solidFill>
              <a:srgbClr val="2A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2461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2C957"/>
                </a:solidFill>
                <a:latin typeface="Avenir Next"/>
              </a:rPr>
              <a:t>3 môn luyện bằng tiếng Anh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675888"/>
            <a:ext cx="50292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4F6FB"/>
                </a:solidFill>
                <a:latin typeface="Avenir Next"/>
              </a:rPr>
              <a:t>Tiếng Anh + Toán tiếng Anh + Khoa học tiếng Anh trong cùng app -</a:t>
            </a:r>
          </a:p>
          <a:p>
            <a:pPr algn="l"/>
            <a:r>
              <a:rPr sz="1100" b="0">
                <a:solidFill>
                  <a:srgbClr val="F4F6FB"/>
                </a:solidFill>
                <a:latin typeface="Avenir Next"/>
              </a:rPr>
              <a:t>đúng nhu cầu luyện IOE và Violympic của phụ huynh.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3108960"/>
            <a:ext cx="5486400" cy="1600200"/>
          </a:xfrm>
          <a:prstGeom prst="roundRect">
            <a:avLst/>
          </a:prstGeom>
          <a:solidFill>
            <a:srgbClr val="121B33"/>
          </a:solidFill>
          <a:ln w="12700">
            <a:solidFill>
              <a:srgbClr val="2A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32461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2C957"/>
                </a:solidFill>
                <a:latin typeface="Avenir Next"/>
              </a:rPr>
              <a:t>Cá nhân hóa theo điểm yếu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3675888"/>
            <a:ext cx="50292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4F6FB"/>
                </a:solidFill>
                <a:latin typeface="Avenir Next"/>
              </a:rPr>
              <a:t>Hệ thống tự phân tích kỹ năng còn yếu sau 1 tuần làm bài và gợi ý</a:t>
            </a:r>
          </a:p>
          <a:p>
            <a:pPr algn="l"/>
            <a:r>
              <a:rPr sz="1100" b="0">
                <a:solidFill>
                  <a:srgbClr val="F4F6FB"/>
                </a:solidFill>
                <a:latin typeface="Avenir Next"/>
              </a:rPr>
              <a:t>bài ôn riêng cho từng em. Chế độ Nâng cao cho học sinh muốn thử thách.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800600"/>
            <a:ext cx="5486400" cy="1600200"/>
          </a:xfrm>
          <a:prstGeom prst="roundRect">
            <a:avLst/>
          </a:prstGeom>
          <a:solidFill>
            <a:srgbClr val="121B33"/>
          </a:solidFill>
          <a:ln w="12700">
            <a:solidFill>
              <a:srgbClr val="2A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49377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2C957"/>
                </a:solidFill>
                <a:latin typeface="Avenir Next"/>
              </a:rPr>
              <a:t>Thi đua &amp; an toàn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5367528"/>
            <a:ext cx="50292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4F6FB"/>
                </a:solidFill>
                <a:latin typeface="Avenir Next"/>
              </a:rPr>
              <a:t>Bảng xếp hạng tuần, đấu trường 1v1, sao - huy hiệu - chuỗi ngày học.</a:t>
            </a:r>
          </a:p>
          <a:p>
            <a:pPr algn="l"/>
            <a:r>
              <a:rPr sz="1100" b="0">
                <a:solidFill>
                  <a:srgbClr val="F4F6FB"/>
                </a:solidFill>
                <a:latin typeface="Avenir Next"/>
              </a:rPr>
              <a:t>Vào lớp bằng mã 6 ký tự. Không quảng cáo, không chat.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2C957"/>
                </a:solidFill>
                <a:latin typeface="Avenir Next"/>
              </a:rPr>
              <a:t>SO SÁNH ĐỐI THỦ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4F6FB"/>
                </a:solidFill>
                <a:latin typeface="Avenir Next"/>
              </a:rPr>
              <a:t>English Arena vs các lựa chọn hiện có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9BA6C4"/>
                </a:solidFill>
                <a:latin typeface="Avenir Next"/>
              </a:rPr>
              <a:t>Bảng so sánh trung thực - gồm cả điểm đối thủ làm tốt hơn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828800"/>
          <a:ext cx="1106424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200400"/>
                <a:gridCol w="2834640"/>
                <a:gridCol w="2834640"/>
              </a:tblGrid>
              <a:tr h="65314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1224"/>
                          </a:solidFill>
                          <a:latin typeface="Avenir Next"/>
                        </a:rPr>
                        <a:t>Tiêu chí</a:t>
                      </a:r>
                    </a:p>
                  </a:txBody>
                  <a:tcPr marT="38100" marB="38100">
                    <a:solidFill>
                      <a:srgbClr val="F2C95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1224"/>
                          </a:solidFill>
                          <a:latin typeface="Avenir Next"/>
                        </a:rPr>
                        <a:t>English Arena</a:t>
                      </a:r>
                    </a:p>
                  </a:txBody>
                  <a:tcPr marT="38100" marB="38100">
                    <a:solidFill>
                      <a:srgbClr val="F2C95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1224"/>
                          </a:solidFill>
                          <a:latin typeface="Avenir Next"/>
                        </a:rPr>
                        <a:t>App quốc tế</a:t>
                      </a:r>
                    </a:p>
                    <a:p>
                      <a:r>
                        <a:rPr sz="1200" b="1">
                          <a:solidFill>
                            <a:srgbClr val="0B1224"/>
                          </a:solidFill>
                          <a:latin typeface="Avenir Next"/>
                        </a:rPr>
                        <a:t>(Duolingo, Khan Kids)</a:t>
                      </a:r>
                    </a:p>
                  </a:txBody>
                  <a:tcPr marT="38100" marB="38100">
                    <a:solidFill>
                      <a:srgbClr val="F2C95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1224"/>
                          </a:solidFill>
                          <a:latin typeface="Avenir Next"/>
                        </a:rPr>
                        <a:t>App nội địa</a:t>
                      </a:r>
                    </a:p>
                    <a:p>
                      <a:r>
                        <a:rPr sz="1200" b="1">
                          <a:solidFill>
                            <a:srgbClr val="0B1224"/>
                          </a:solidFill>
                          <a:latin typeface="Avenir Next"/>
                        </a:rPr>
                        <a:t>(Monkey, VioEdu)</a:t>
                      </a:r>
                    </a:p>
                  </a:txBody>
                  <a:tcPr marT="38100" marB="38100">
                    <a:solidFill>
                      <a:srgbClr val="F2C957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Bám SGK Việt Nam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Trọn Global Success lớp 1-5,</a:t>
                      </a:r>
                    </a:p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mỗi câu kèm giải thích tiếng Việt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Không theo chương trình VN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Theo chương trình chung,</a:t>
                      </a:r>
                    </a:p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không bám từng unit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Trải nghiệm trẻ em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Thế giới phiêu lưu, mascot,</a:t>
                      </a:r>
                    </a:p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sao - huy hiệu - sticker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Rất tốt - đồ họa đầu tư lớn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Đa số form trắc nghiệm, UI khô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Môn luyện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Tiếng Anh + Toán tiếng Anh +</a:t>
                      </a:r>
                    </a:p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Khoa học tiếng Anh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Chủ yếu tiếng Anh/ngôn ngữ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Tách nhiều app/gói</a:t>
                      </a:r>
                    </a:p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cho từng môn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Mô hình trường học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Trường cấp tài khoản,</a:t>
                      </a:r>
                    </a:p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GV quản lý lớp, báo cáo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Không có quản lý lớp</a:t>
                      </a:r>
                    </a:p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kiểu trường VN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Một số có,</a:t>
                      </a:r>
                    </a:p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thường phức tạp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Chi phí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Miễn phí chơi thử;</a:t>
                      </a:r>
                    </a:p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gói gia đình + gói trường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Đắt (thu bằng USD)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Trung bình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</a:tr>
              <a:tr h="65314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Điểm yếu của chúng tôi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Mới phủ lớp 1-5 (lộ trình 6-12);</a:t>
                      </a:r>
                    </a:p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vốn từ nhỏ hơn app quốc tế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marT="38100" marB="38100">
                    <a:solidFill>
                      <a:srgbClr val="121B3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2C957"/>
                </a:solidFill>
                <a:latin typeface="Avenir Next"/>
              </a:rPr>
              <a:t>SO SÁNH ĐỐI THỦ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4F6FB"/>
                </a:solidFill>
                <a:latin typeface="Avenir Next"/>
              </a:rPr>
              <a:t>Công cụ số Giáo viên vs các lựa chọn hiện có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828800"/>
          <a:ext cx="1106424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383280"/>
                <a:gridCol w="2743200"/>
                <a:gridCol w="2743200"/>
              </a:tblGrid>
              <a:tr h="76809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1224"/>
                          </a:solidFill>
                          <a:latin typeface="Avenir Next"/>
                        </a:rPr>
                        <a:t>Tiêu chí</a:t>
                      </a:r>
                    </a:p>
                  </a:txBody>
                  <a:tcPr marT="38100" marB="38100">
                    <a:solidFill>
                      <a:srgbClr val="F2C95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1224"/>
                          </a:solidFill>
                          <a:latin typeface="Avenir Next"/>
                        </a:rPr>
                        <a:t>TVC360</a:t>
                      </a:r>
                    </a:p>
                  </a:txBody>
                  <a:tcPr marT="38100" marB="38100">
                    <a:solidFill>
                      <a:srgbClr val="F2C95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1224"/>
                          </a:solidFill>
                          <a:latin typeface="Avenir Next"/>
                        </a:rPr>
                        <a:t>MagicSchool (Mỹ)</a:t>
                      </a:r>
                    </a:p>
                  </a:txBody>
                  <a:tcPr marT="38100" marB="38100">
                    <a:solidFill>
                      <a:srgbClr val="F2C95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1224"/>
                          </a:solidFill>
                          <a:latin typeface="Avenir Next"/>
                        </a:rPr>
                        <a:t>Azota</a:t>
                      </a:r>
                    </a:p>
                  </a:txBody>
                  <a:tcPr marT="38100" marB="38100">
                    <a:solidFill>
                      <a:srgbClr val="F2C957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Chương trình áp dụng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CTGDPT 2018 (gồm sửa đổi của TT 17/2025</a:t>
                      </a:r>
                    </a:p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cho Lịch sử, Địa lí, GDCD), gắn mã YCCĐ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Chuẩn Mỹ - không áp cho VN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Theo cấu trúc đề thi VN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Phạm vi công cụ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12 công cụ: ngân hàng câu hỏi,</a:t>
                      </a:r>
                    </a:p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ma trận, đề thi, kế hoạch bài dạy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60+ công cụ nhưng toàn</a:t>
                      </a:r>
                    </a:p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tiếng Anh, prompt Mỹ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Chấm điểm, ngân hàng đề -</a:t>
                      </a:r>
                    </a:p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mạnh về thi cử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Xuất tài liệu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DOCX có công thức toán</a:t>
                      </a:r>
                    </a:p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Word-native + PDF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Text / copy-paste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DOCX / PDF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Điểm yếu của chúng tôi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Ngân hàng câu hỏi cộng đồng</a:t>
                      </a:r>
                    </a:p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nhỏ hơn Azota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marT="38100" marB="38100">
                    <a:solidFill>
                      <a:srgbClr val="121B3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2C957"/>
                </a:solidFill>
                <a:latin typeface="Avenir Next"/>
              </a:rPr>
              <a:t>SO SÁNH ĐỐI THỦ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4F6FB"/>
                </a:solidFill>
                <a:latin typeface="Avenir Next"/>
              </a:rPr>
              <a:t>Sổ Chủ Nhiệm Số vs các lựa chọn hiện có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828800"/>
          <a:ext cx="1106424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383280"/>
                <a:gridCol w="2834640"/>
                <a:gridCol w="2834640"/>
              </a:tblGrid>
              <a:tr h="7010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1224"/>
                          </a:solidFill>
                          <a:latin typeface="Avenir Next"/>
                        </a:rPr>
                        <a:t>Tiêu chí</a:t>
                      </a:r>
                    </a:p>
                  </a:txBody>
                  <a:tcPr marT="38100" marB="38100">
                    <a:solidFill>
                      <a:srgbClr val="F2C95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1224"/>
                          </a:solidFill>
                          <a:latin typeface="Avenir Next"/>
                        </a:rPr>
                        <a:t>Sổ Chủ Nhiệm Số</a:t>
                      </a:r>
                    </a:p>
                  </a:txBody>
                  <a:tcPr marT="38100" marB="38100">
                    <a:solidFill>
                      <a:srgbClr val="F2C95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1224"/>
                          </a:solidFill>
                          <a:latin typeface="Avenir Next"/>
                        </a:rPr>
                        <a:t>Hệ MIS lớn (vnEdu, SMAS)</a:t>
                      </a:r>
                    </a:p>
                  </a:txBody>
                  <a:tcPr marT="38100" marB="38100">
                    <a:solidFill>
                      <a:srgbClr val="F2C95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1224"/>
                          </a:solidFill>
                          <a:latin typeface="Avenir Next"/>
                        </a:rPr>
                        <a:t>Sổ giấy / Excel</a:t>
                      </a:r>
                    </a:p>
                  </a:txBody>
                  <a:tcPr marT="38100" marB="38100">
                    <a:solidFill>
                      <a:srgbClr val="F2C957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Phạm vi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Tập trung đúng công tác chủ nhiệm:</a:t>
                      </a:r>
                    </a:p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điểm danh, hạnh kiểm, sổ điểm,</a:t>
                      </a:r>
                    </a:p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thông báo PH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MIS toàn trường: học phí,</a:t>
                      </a:r>
                    </a:p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nhân sự, tài chính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Thủ công, dễ sai lệch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Độ khó triển khai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Mở trình duyệt là dùng;</a:t>
                      </a:r>
                    </a:p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demo trong 5 phút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Triển khai dài, cần đào tạo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Không cần triển khai nhưng</a:t>
                      </a:r>
                    </a:p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tốn công hàng ngày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Chuẩn quy định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Điều lệ trường mới nhất</a:t>
                      </a:r>
                    </a:p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(TT 15/2026/TT-BGDĐT)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Đa số cập nhật chậm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Không có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Chi phí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Tính theo học sinh, phù hợp</a:t>
                      </a:r>
                    </a:p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trường vừa và nhỏ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Đắt, gói lớn bắt buộc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Miễn phí nhưng tốn công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Điểm yếu của chúng tôi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Không thay thế MIS toàn trường</a:t>
                      </a:r>
                    </a:p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(chưa có học phí, nhân sự)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marT="38100" marB="38100">
                    <a:solidFill>
                      <a:srgbClr val="121B3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2C957"/>
                </a:solidFill>
                <a:latin typeface="Avenir Next"/>
              </a:rPr>
              <a:t>HƯỚNG DẪN SỬ DỤNG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4F6FB"/>
                </a:solidFill>
                <a:latin typeface="Avenir Next"/>
              </a:rPr>
              <a:t>English Arena - ea.vieschool.com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4F6FB"/>
                </a:solidFill>
                <a:latin typeface="Avenir Next"/>
              </a:rPr>
              <a:t>- Mở ea.vieschool.com từ trình duyệt bất kỳ - không cần cài đặt.</a:t>
            </a:r>
          </a:p>
          <a:p>
            <a:pPr algn="l"/>
            <a:r>
              <a:rPr sz="1300" b="0">
                <a:solidFill>
                  <a:srgbClr val="F4F6FB"/>
                </a:solidFill>
                <a:latin typeface="Avenir Next"/>
              </a:rPr>
              <a:t>- Chưa có tài khoản: nhấn 'Chơi không cần tài khoản' - 1 vòng miễn phí mỗi lớp.</a:t>
            </a:r>
          </a:p>
          <a:p>
            <a:pPr algn="l"/>
            <a:r>
              <a:rPr sz="1300" b="0">
                <a:solidFill>
                  <a:srgbClr val="F4F6FB"/>
                </a:solidFill>
                <a:latin typeface="Avenir Next"/>
              </a:rPr>
              <a:t>- Học sinh: đăng nhập username + PIN do giáo viên cấp, tự đổi PIN khi cần.</a:t>
            </a:r>
          </a:p>
          <a:p>
            <a:pPr algn="l"/>
            <a:r>
              <a:rPr sz="1300" b="0">
                <a:solidFill>
                  <a:srgbClr val="F4F6FB"/>
                </a:solidFill>
                <a:latin typeface="Avenir Next"/>
              </a:rPr>
              <a:t>- Chọn khối - chọn môn (Tiếng Anh / Toán / Khoa học) - Luyện đề có đồng hồ đo giờ, Thi thử đếm ngược.</a:t>
            </a:r>
          </a:p>
          <a:p>
            <a:pPr algn="l"/>
            <a:r>
              <a:rPr sz="1300" b="0">
                <a:solidFill>
                  <a:srgbClr val="F4F6FB"/>
                </a:solidFill>
                <a:latin typeface="Avenir Next"/>
              </a:rPr>
              <a:t>- Vào lớp: nhập mã lớp 6 ký tự cô gửi (VD lớp demo: R8WHYF) - không cần admin gán tay.</a:t>
            </a:r>
          </a:p>
          <a:p>
            <a:pPr algn="l"/>
            <a:r>
              <a:rPr sz="1300" b="0">
                <a:solidFill>
                  <a:srgbClr val="F4F6FB"/>
                </a:solidFill>
                <a:latin typeface="Avenir Next"/>
              </a:rPr>
              <a:t>- Quản trị: tạo tài khoản học sinh, tạo lớp sinh mã tự động, gán phạm vi lớp, xem tiến độ.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3108960"/>
          <a:ext cx="110642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011680"/>
                <a:gridCol w="1645920"/>
                <a:gridCol w="5029200"/>
              </a:tblGrid>
              <a:tr h="5943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1224"/>
                          </a:solidFill>
                          <a:latin typeface="Avenir Next"/>
                        </a:rPr>
                        <a:t>Vai trò</a:t>
                      </a:r>
                    </a:p>
                  </a:txBody>
                  <a:tcPr marT="38100" marB="38100">
                    <a:solidFill>
                      <a:srgbClr val="F2C95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1224"/>
                          </a:solidFill>
                          <a:latin typeface="Avenir Next"/>
                        </a:rPr>
                        <a:t>Username</a:t>
                      </a:r>
                    </a:p>
                  </a:txBody>
                  <a:tcPr marT="38100" marB="38100">
                    <a:solidFill>
                      <a:srgbClr val="F2C95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1224"/>
                          </a:solidFill>
                          <a:latin typeface="Avenir Next"/>
                        </a:rPr>
                        <a:t>PIN</a:t>
                      </a:r>
                    </a:p>
                  </a:txBody>
                  <a:tcPr marT="38100" marB="38100">
                    <a:solidFill>
                      <a:srgbClr val="F2C95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1224"/>
                          </a:solidFill>
                          <a:latin typeface="Avenir Next"/>
                        </a:rPr>
                        <a:t>Phạm vi</a:t>
                      </a:r>
                    </a:p>
                  </a:txBody>
                  <a:tcPr marT="38100" marB="38100">
                    <a:solidFill>
                      <a:srgbClr val="F2C957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Quản trị viên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demo_admin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demo2026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Console quản trị: tạo tài khoản, gán lớp, báo cáo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Học sinh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demo_hs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demo2026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Đủ 5 khối lớp 1-5, đủ 4 vòng, lưu tiến độ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Khách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-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-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1 vòng miễn phí mỗi lớp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2C957"/>
                </a:solidFill>
                <a:latin typeface="Avenir Next"/>
              </a:rPr>
              <a:t>HƯỚNG DẪN SỬ DỤNG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4F6FB"/>
                </a:solidFill>
                <a:latin typeface="Avenir Next"/>
              </a:rPr>
              <a:t>Công cụ số Giáo viên - congcuso.vieschool.com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4F6FB"/>
                </a:solidFill>
                <a:latin typeface="Avenir Next"/>
              </a:rPr>
              <a:t>- Đăng nhập bằng email + mật khẩu; đổi mật khẩu ngay trong tài khoản.</a:t>
            </a:r>
          </a:p>
          <a:p>
            <a:pPr algn="l"/>
            <a:r>
              <a:rPr sz="1300" b="0">
                <a:solidFill>
                  <a:srgbClr val="F4F6FB"/>
                </a:solidFill>
                <a:latin typeface="Avenir Next"/>
              </a:rPr>
              <a:t>- Giáo viên: chọn công cụ (ngân hàng câu hỏi, ma trận, đề thi...) - nhập yêu cầu - tạo nội dung.</a:t>
            </a:r>
          </a:p>
          <a:p>
            <a:pPr algn="l"/>
            <a:r>
              <a:rPr sz="1300" b="0">
                <a:solidFill>
                  <a:srgbClr val="F4F6FB"/>
                </a:solidFill>
                <a:latin typeface="Avenir Next"/>
              </a:rPr>
              <a:t>- Kiểm định: duyệt nội dung trước khi công khai trong thư viện chung.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3108960"/>
          <a:ext cx="1106424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4114800"/>
                <a:gridCol w="4206240"/>
              </a:tblGrid>
              <a:tr h="5486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1224"/>
                          </a:solidFill>
                          <a:latin typeface="Avenir Next"/>
                        </a:rPr>
                        <a:t>Vai trò</a:t>
                      </a:r>
                    </a:p>
                  </a:txBody>
                  <a:tcPr marT="38100" marB="38100">
                    <a:solidFill>
                      <a:srgbClr val="F2C95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1224"/>
                          </a:solidFill>
                          <a:latin typeface="Avenir Next"/>
                        </a:rPr>
                        <a:t>Email</a:t>
                      </a:r>
                    </a:p>
                  </a:txBody>
                  <a:tcPr marT="38100" marB="38100">
                    <a:solidFill>
                      <a:srgbClr val="F2C95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1224"/>
                          </a:solidFill>
                          <a:latin typeface="Avenir Next"/>
                        </a:rPr>
                        <a:t>Mật khẩu</a:t>
                      </a:r>
                    </a:p>
                  </a:txBody>
                  <a:tcPr marT="38100" marB="38100">
                    <a:solidFill>
                      <a:srgbClr val="F2C95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Quản trị viên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admin@demo.tvc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demo1234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Giáo viên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gv@demo.tvc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demo1234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Kiểm định viên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kd@demo.tvc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demo1234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2C957"/>
                </a:solidFill>
                <a:latin typeface="Avenir Next"/>
              </a:rPr>
              <a:t>HƯỚNG DẪN SỬ DỤNG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4F6FB"/>
                </a:solidFill>
                <a:latin typeface="Avenir Next"/>
              </a:rPr>
              <a:t>Sổ Chủ Nhiệm Số - sochunhiem.vieschool.com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9BA6C4"/>
                </a:solidFill>
                <a:latin typeface="Avenir Next"/>
              </a:rPr>
              <a:t>Đăng nhập email + mật khẩu - hệ thống tự vào đúng màn hình theo vai trò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920240"/>
          <a:ext cx="1106424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291840"/>
                <a:gridCol w="2194560"/>
                <a:gridCol w="3383280"/>
              </a:tblGrid>
              <a:tr h="5181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1224"/>
                          </a:solidFill>
                          <a:latin typeface="Avenir Next"/>
                        </a:rPr>
                        <a:t>Vai trò</a:t>
                      </a:r>
                    </a:p>
                  </a:txBody>
                  <a:tcPr marT="38100" marB="38100">
                    <a:solidFill>
                      <a:srgbClr val="F2C95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1224"/>
                          </a:solidFill>
                          <a:latin typeface="Avenir Next"/>
                        </a:rPr>
                        <a:t>Email</a:t>
                      </a:r>
                    </a:p>
                  </a:txBody>
                  <a:tcPr marT="38100" marB="38100">
                    <a:solidFill>
                      <a:srgbClr val="F2C95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1224"/>
                          </a:solidFill>
                          <a:latin typeface="Avenir Next"/>
                        </a:rPr>
                        <a:t>Vai trò</a:t>
                      </a:r>
                    </a:p>
                  </a:txBody>
                  <a:tcPr marT="38100" marB="38100">
                    <a:solidFill>
                      <a:srgbClr val="F2C95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1224"/>
                          </a:solidFill>
                          <a:latin typeface="Avenir Next"/>
                        </a:rPr>
                        <a:t>Email</a:t>
                      </a:r>
                    </a:p>
                  </a:txBody>
                  <a:tcPr marT="38100" marB="38100">
                    <a:solidFill>
                      <a:srgbClr val="F2C957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Ban giám hiệu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bgh@demo.scn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Tổ trưởng CM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totruong@demo.scn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Phó hiệu trưởng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pht@demo.scn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Kế toán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ketoan@demo.scn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GV chủ nhiệm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gvcn@demo.scn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Học sinh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hocsinh@demo.scn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GV bộ môn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gvbm@demo.scn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Phụ huynh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phuhuynh@demo.scn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Sở GD&amp;ĐT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sogd@demo.scn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UBND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ubnd@demo.scn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2120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BA6C4"/>
                </a:solidFill>
                <a:latin typeface="Avenir Next"/>
              </a:rPr>
              <a:t>Mật khẩu chung tất cả tài khoản demo: demo1234  |  Kịch bản 10 phút: vieschool.com → chơi thử English Arena → login TVC360 → login Sổ CN theo vai trò.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2C957"/>
                </a:solidFill>
                <a:latin typeface="Avenir Next"/>
              </a:rPr>
              <a:t>GIÁ NIÊM YẾT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4F6FB"/>
                </a:solidFill>
                <a:latin typeface="Avenir Next"/>
              </a:rPr>
              <a:t>English Arena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920240"/>
          <a:ext cx="1106424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566160"/>
                <a:gridCol w="5303520"/>
              </a:tblGrid>
              <a:tr h="62179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1224"/>
                          </a:solidFill>
                          <a:latin typeface="Avenir Next"/>
                        </a:rPr>
                        <a:t>Gói</a:t>
                      </a:r>
                    </a:p>
                  </a:txBody>
                  <a:tcPr marT="38100" marB="38100">
                    <a:solidFill>
                      <a:srgbClr val="F2C95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1224"/>
                          </a:solidFill>
                          <a:latin typeface="Avenir Next"/>
                        </a:rPr>
                        <a:t>Giá</a:t>
                      </a:r>
                    </a:p>
                  </a:txBody>
                  <a:tcPr marT="38100" marB="38100">
                    <a:solidFill>
                      <a:srgbClr val="F2C95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1224"/>
                          </a:solidFill>
                          <a:latin typeface="Avenir Next"/>
                        </a:rPr>
                        <a:t>Quyền lợi</a:t>
                      </a:r>
                    </a:p>
                  </a:txBody>
                  <a:tcPr marT="38100" marB="38100">
                    <a:solidFill>
                      <a:srgbClr val="F2C957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4F6FB"/>
                          </a:solidFill>
                          <a:latin typeface="Avenir Next"/>
                        </a:rPr>
                        <a:t>Khách (Guest)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4F6FB"/>
                          </a:solidFill>
                          <a:latin typeface="Avenir Next"/>
                        </a:rPr>
                        <a:t>Miễn phí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4F6FB"/>
                          </a:solidFill>
                          <a:latin typeface="Avenir Next"/>
                        </a:rPr>
                        <a:t>Chơi thử 1 vòng mỗi lớp, không cần tài khoản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4F6FB"/>
                          </a:solidFill>
                          <a:latin typeface="Avenir Next"/>
                        </a:rPr>
                        <a:t>Gia đình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4F6FB"/>
                          </a:solidFill>
                          <a:latin typeface="Avenir Next"/>
                        </a:rPr>
                        <a:t>249.000đ / 6 tháng</a:t>
                      </a:r>
                    </a:p>
                    <a:p>
                      <a:r>
                        <a:rPr sz="1300" b="0">
                          <a:solidFill>
                            <a:srgbClr val="F4F6FB"/>
                          </a:solidFill>
                          <a:latin typeface="Avenir Next"/>
                        </a:rPr>
                        <a:t>hoặc 399.000đ / năm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4F6FB"/>
                          </a:solidFill>
                          <a:latin typeface="Avenir Next"/>
                        </a:rPr>
                        <a:t>Đủ 5 khối, đủ 4 vòng, lưu tiến độ và thành tích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4F6FB"/>
                          </a:solidFill>
                          <a:latin typeface="Avenir Next"/>
                        </a:rPr>
                        <a:t>Nhóm lớp (PH mua)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4F6FB"/>
                          </a:solidFill>
                          <a:latin typeface="Avenir Next"/>
                        </a:rPr>
                        <a:t>199.000đ / học sinh / năm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4F6FB"/>
                          </a:solidFill>
                          <a:latin typeface="Avenir Next"/>
                        </a:rPr>
                        <a:t>Tối thiểu 15 học sinh; vào lớp tự phục vụ bằng mã lớp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4F6FB"/>
                          </a:solidFill>
                          <a:latin typeface="Avenir Next"/>
                        </a:rPr>
                        <a:t>Nhà trường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4F6FB"/>
                          </a:solidFill>
                          <a:latin typeface="Avenir Next"/>
                        </a:rPr>
                        <a:t>99.000đ / học sinh / năm</a:t>
                      </a:r>
                    </a:p>
                    <a:p>
                      <a:r>
                        <a:rPr sz="1300" b="0">
                          <a:solidFill>
                            <a:srgbClr val="F4F6FB"/>
                          </a:solidFill>
                          <a:latin typeface="Avenir Next"/>
                        </a:rPr>
                        <a:t>(79.000đ từ 300 HS)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4F6FB"/>
                          </a:solidFill>
                          <a:latin typeface="Avenir Next"/>
                        </a:rPr>
                        <a:t>Console quản lý lớp, báo cáo; 800+ HS báo giá riêng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2C957"/>
                </a:solidFill>
                <a:latin typeface="Avenir Next"/>
              </a:rPr>
              <a:t>GIÁ NIÊM YẾT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4F6FB"/>
                </a:solidFill>
                <a:latin typeface="Avenir Next"/>
              </a:rPr>
              <a:t>Công cụ số Giáo viên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920240"/>
          <a:ext cx="1106424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566160"/>
                <a:gridCol w="5303520"/>
              </a:tblGrid>
              <a:tr h="7315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1224"/>
                          </a:solidFill>
                          <a:latin typeface="Avenir Next"/>
                        </a:rPr>
                        <a:t>Gói</a:t>
                      </a:r>
                    </a:p>
                  </a:txBody>
                  <a:tcPr marT="38100" marB="38100">
                    <a:solidFill>
                      <a:srgbClr val="F2C95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1224"/>
                          </a:solidFill>
                          <a:latin typeface="Avenir Next"/>
                        </a:rPr>
                        <a:t>Giá</a:t>
                      </a:r>
                    </a:p>
                  </a:txBody>
                  <a:tcPr marT="38100" marB="38100">
                    <a:solidFill>
                      <a:srgbClr val="F2C95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1224"/>
                          </a:solidFill>
                          <a:latin typeface="Avenir Next"/>
                        </a:rPr>
                        <a:t>Quyền lợi</a:t>
                      </a:r>
                    </a:p>
                  </a:txBody>
                  <a:tcPr marT="38100" marB="38100">
                    <a:solidFill>
                      <a:srgbClr val="F2C957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4F6FB"/>
                          </a:solidFill>
                          <a:latin typeface="Avenir Next"/>
                        </a:rPr>
                        <a:t>Giáo viên lẻ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4F6FB"/>
                          </a:solidFill>
                          <a:latin typeface="Avenir Next"/>
                        </a:rPr>
                        <a:t>299.000đ / giáo viên / năm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4F6FB"/>
                          </a:solidFill>
                          <a:latin typeface="Avenir Next"/>
                        </a:rPr>
                        <a:t>Đủ 12 công cụ, xuất DOCX/PDF không giới hạn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4F6FB"/>
                          </a:solidFill>
                          <a:latin typeface="Avenir Next"/>
                        </a:rPr>
                        <a:t>Nhà trường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4F6FB"/>
                          </a:solidFill>
                          <a:latin typeface="Avenir Next"/>
                        </a:rPr>
                        <a:t>199.000đ / giáo viên / năm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4F6FB"/>
                          </a:solidFill>
                          <a:latin typeface="Avenir Next"/>
                        </a:rPr>
                        <a:t>Từ 10 giáo viên; kèm luồng kiểm định nội bộ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2C957"/>
                </a:solidFill>
                <a:latin typeface="Avenir Next"/>
              </a:rPr>
              <a:t>GIÁ NIÊM YẾT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4F6FB"/>
                </a:solidFill>
                <a:latin typeface="Avenir Next"/>
              </a:rPr>
              <a:t>Sổ Chủ Nhiệm Số + gói trọn bộ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920240"/>
          <a:ext cx="11064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566160"/>
                <a:gridCol w="5303520"/>
              </a:tblGrid>
              <a:tr h="7315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1224"/>
                          </a:solidFill>
                          <a:latin typeface="Avenir Next"/>
                        </a:rPr>
                        <a:t>Gói</a:t>
                      </a:r>
                    </a:p>
                  </a:txBody>
                  <a:tcPr marT="38100" marB="38100">
                    <a:solidFill>
                      <a:srgbClr val="F2C95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1224"/>
                          </a:solidFill>
                          <a:latin typeface="Avenir Next"/>
                        </a:rPr>
                        <a:t>Giá</a:t>
                      </a:r>
                    </a:p>
                  </a:txBody>
                  <a:tcPr marT="38100" marB="38100">
                    <a:solidFill>
                      <a:srgbClr val="F2C95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1224"/>
                          </a:solidFill>
                          <a:latin typeface="Avenir Next"/>
                        </a:rPr>
                        <a:t>Quyền lợi</a:t>
                      </a:r>
                    </a:p>
                  </a:txBody>
                  <a:tcPr marT="38100" marB="38100">
                    <a:solidFill>
                      <a:srgbClr val="F2C957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4F6FB"/>
                          </a:solidFill>
                          <a:latin typeface="Avenir Next"/>
                        </a:rPr>
                        <a:t>Theo học sinh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4F6FB"/>
                          </a:solidFill>
                          <a:latin typeface="Avenir Next"/>
                        </a:rPr>
                        <a:t>15.000 - 25.000đ / học sinh / năm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4F6FB"/>
                          </a:solidFill>
                          <a:latin typeface="Avenir Next"/>
                        </a:rPr>
                        <a:t>Theo quy mô trường; đủ module chủ nhiệm, điểm, hạnh kiểm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384048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9BA6C4"/>
                </a:solidFill>
                <a:latin typeface="Avenir Next"/>
              </a:rPr>
              <a:t>Gói trọn bộ: trường dùng đồng thời cả 3 sản phẩm được giá bundle ưu đãi - báo giá cụ thể theo số lượng học sinh và giáo viên.</a:t>
            </a:r>
          </a:p>
          <a:p>
            <a:pPr algn="l"/>
            <a:r>
              <a:rPr sz="1400" b="0">
                <a:solidFill>
                  <a:srgbClr val="9BA6C4"/>
                </a:solidFill>
                <a:latin typeface="Avenir Next"/>
              </a:rPr>
              <a:t>Mọi gói gồm: hỗ trợ triển khai ban đầu, hướng dẫn sử dụng, bảo hành tính năng trong thời hạn gói.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2C957"/>
                </a:solidFill>
                <a:latin typeface="Avenir Next"/>
              </a:rPr>
              <a:t>VÌ SAO CHỌN VIESCHOOL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4F6FB"/>
                </a:solidFill>
                <a:latin typeface="Avenir Next"/>
              </a:rPr>
              <a:t>Đúng chương trình Việt - trải nghiệm chuẩn quốc tế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5486400" cy="2148840"/>
          </a:xfrm>
          <a:prstGeom prst="roundRect">
            <a:avLst/>
          </a:prstGeom>
          <a:solidFill>
            <a:srgbClr val="121B33"/>
          </a:solidFill>
          <a:ln w="12700">
            <a:solidFill>
              <a:srgbClr val="2A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745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2C957"/>
                </a:solidFill>
                <a:latin typeface="Avenir Next"/>
              </a:rPr>
              <a:t>Đúng chương trình VN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04288"/>
            <a:ext cx="50292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Bám SGK Tiếng Anh Global Success theo CTGDPT 2018.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Luyện trên app là học đúng điều đang học trên lớp.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737360"/>
            <a:ext cx="5486400" cy="2148840"/>
          </a:xfrm>
          <a:prstGeom prst="roundRect">
            <a:avLst/>
          </a:prstGeom>
          <a:solidFill>
            <a:srgbClr val="121B33"/>
          </a:solidFill>
          <a:ln w="12700">
            <a:solidFill>
              <a:srgbClr val="2A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8745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2C957"/>
                </a:solidFill>
                <a:latin typeface="Avenir Next"/>
              </a:rPr>
              <a:t>Trọn trong một hệ sinh thái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2304288"/>
            <a:ext cx="50292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Một nền tảng thay ba ứng dụng rời rạc - cùng nhận diện,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cùng đội hỗ trợ, cùng một hợp đồng.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069079"/>
            <a:ext cx="5486400" cy="2148840"/>
          </a:xfrm>
          <a:prstGeom prst="roundRect">
            <a:avLst/>
          </a:prstGeom>
          <a:solidFill>
            <a:srgbClr val="121B33"/>
          </a:solidFill>
          <a:ln w="12700">
            <a:solidFill>
              <a:srgbClr val="2A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206239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2C957"/>
                </a:solidFill>
                <a:latin typeface="Avenir Next"/>
              </a:rPr>
              <a:t>Trọng tâm là trẻ 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636007"/>
            <a:ext cx="50292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Không quảng cáo, không chat công khai. Nút chạm lớn,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giọng đọc chậm rõ, giải thích tiếng Việt khi trả lời sai.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4069079"/>
            <a:ext cx="5486400" cy="2148840"/>
          </a:xfrm>
          <a:prstGeom prst="roundRect">
            <a:avLst/>
          </a:prstGeom>
          <a:solidFill>
            <a:srgbClr val="121B33"/>
          </a:solidFill>
          <a:ln w="12700">
            <a:solidFill>
              <a:srgbClr val="2A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4206239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2C957"/>
                </a:solidFill>
                <a:latin typeface="Avenir Next"/>
              </a:rPr>
              <a:t>Theo kịp quy định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4636007"/>
            <a:ext cx="50292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Sổ chủ nhiệm và công cụ giáo viên cập nhật theo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Điều lệ trường và thông tư mới nhất.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1945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4F6FB"/>
                </a:solidFill>
                <a:latin typeface="Avenir Next"/>
              </a:rPr>
              <a:t>Trải nghiệm ngay hôm nay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0"/>
            <a:ext cx="109728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9BA6C4"/>
                </a:solidFill>
                <a:latin typeface="Avenir Next"/>
              </a:rPr>
              <a:t>vieschool.com</a:t>
            </a:r>
          </a:p>
          <a:p>
            <a:pPr algn="l"/>
          </a:p>
          <a:p>
            <a:pPr algn="l"/>
            <a:r>
              <a:rPr sz="1800" b="0">
                <a:solidFill>
                  <a:srgbClr val="9BA6C4"/>
                </a:solidFill>
                <a:latin typeface="Avenir Next"/>
              </a:rPr>
              <a:t>Đội ngũ VieSchool hỗ trợ demo trực tiếp tại trường hoặc online.</a:t>
            </a:r>
          </a:p>
          <a:p>
            <a:pPr algn="l"/>
            <a:r>
              <a:rPr sz="1800" b="0">
                <a:solidFill>
                  <a:srgbClr val="9BA6C4"/>
                </a:solidFill>
                <a:latin typeface="Avenir Next"/>
              </a:rPr>
              <a:t>Tài khoản demo ở mục Hướng dẫn sử dụng - đăng nhập như người dùng thật.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