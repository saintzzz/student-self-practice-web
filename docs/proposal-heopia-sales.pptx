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D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64592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97706"/>
                </a:solidFill>
                <a:latin typeface="Baloo 2"/>
              </a:rPr>
              <a:t>PROPOSAL BAN HANG / SALES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6858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00" b="1" i="0">
                <a:solidFill>
                  <a:srgbClr val="FFFFFF"/>
                </a:solidFill>
                <a:latin typeface="Baloo 2"/>
              </a:rPr>
              <a:t>HEOPIA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83464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BAE6FD"/>
                </a:solidFill>
                <a:latin typeface="Baloo 2"/>
              </a:rPr>
              <a:t>Hanh trinh tieng Anh cua Be Heo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566160"/>
            <a:ext cx="6035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E0F2FE"/>
                </a:solidFill>
                <a:latin typeface="Baloo 2"/>
              </a:rPr>
              <a:t>Nen tang luyen tieng Anh tu hoc cho hoc sinh tieu hoc</a:t>
            </a:r>
          </a:p>
          <a:p>
            <a:pPr algn="l"/>
            <a:r>
              <a:rPr sz="2000" b="0" i="0">
                <a:solidFill>
                  <a:srgbClr val="E0F2FE"/>
                </a:solidFill>
                <a:latin typeface="Baloo 2"/>
              </a:rPr>
              <a:t>Lop 1-5 - bam sat SGK Global Success + Cambridge</a:t>
            </a:r>
          </a:p>
          <a:p>
            <a:pPr algn="l"/>
            <a:r>
              <a:rPr sz="2000" b="0" i="0">
                <a:solidFill>
                  <a:srgbClr val="E0F2FE"/>
                </a:solidFill>
                <a:latin typeface="Baloo 2"/>
              </a:rPr>
              <a:t>Web app - khong can cai dat - co che do khach mien phi</a:t>
            </a:r>
          </a:p>
        </p:txBody>
      </p:sp>
      <p:pic>
        <p:nvPicPr>
          <p:cNvPr id="7" name="Picture 6" descr="cr12-prod-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1371600"/>
            <a:ext cx="4754880" cy="2971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7240" y="60350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3C5FD"/>
                </a:solidFill>
                <a:latin typeface="Baloo 2"/>
              </a:rPr>
              <a:t>ioe-leduyminh.vercel.app  -  proposal: heopia.com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B3D5C"/>
                </a:solidFill>
                <a:latin typeface="Baloo 2"/>
              </a:rPr>
              <a:t>Van de - Phu huynh va truong hoc dang thieu gi?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71600"/>
            <a:ext cx="10881360" cy="27432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607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900" b="1">
                <a:solidFill>
                  <a:srgbClr val="0E74B8"/>
                </a:solidFill>
                <a:latin typeface="Baloo 2"/>
              </a:rPr>
              <a:t>Hoc sinh tieu hoc thieu moi truong luyen tieng Anh ngoai gio hoc. </a:t>
            </a:r>
            <a:r>
              <a:rPr sz="1900" b="0">
                <a:solidFill>
                  <a:srgbClr val="1E293B"/>
                </a:solidFill>
                <a:latin typeface="Baloo 2"/>
              </a:rPr>
              <a:t>Tren lop it co hoi noi/nghe; gia dinh khong phai ai cung day kem duoc.</a:t>
            </a:r>
          </a:p>
          <a:p>
            <a:pPr>
              <a:spcAft>
                <a:spcPts val="1400"/>
              </a:spcAft>
            </a:pPr>
            <a:r>
              <a:rPr sz="1900" b="1">
                <a:solidFill>
                  <a:srgbClr val="0E74B8"/>
                </a:solidFill>
                <a:latin typeface="Baloo 2"/>
              </a:rPr>
              <a:t>Cac app hien co hoac khong dung chuong trinh, hoac dat va nang. </a:t>
            </a:r>
            <a:r>
              <a:rPr sz="1900" b="0">
                <a:solidFill>
                  <a:srgbClr val="1E293B"/>
                </a:solidFill>
                <a:latin typeface="Baloo 2"/>
              </a:rPr>
              <a:t>App quoc te (Duolingo ABC, Khan Kids) hay nhung khong bam SGK Viet Nam; app noi dia (Monkey Junior, VMonkey) tra phi cao va nang native app.</a:t>
            </a:r>
          </a:p>
          <a:p>
            <a:pPr>
              <a:spcAft>
                <a:spcPts val="1400"/>
              </a:spcAft>
            </a:pPr>
            <a:r>
              <a:rPr sz="1900" b="1">
                <a:solidFill>
                  <a:srgbClr val="0E74B8"/>
                </a:solidFill>
                <a:latin typeface="Baloo 2"/>
              </a:rPr>
              <a:t>Truong hoc can cong cu re, de trien khai theo lop. </a:t>
            </a:r>
            <a:r>
              <a:rPr sz="1900" b="0">
                <a:solidFill>
                  <a:srgbClr val="1E293B"/>
                </a:solidFill>
                <a:latin typeface="Baloo 2"/>
              </a:rPr>
              <a:t>Cac giai phap hien tai chu yeu ban B2C cho phu huynh, thieu cong cu quan ly lop: cap tai khoan, gioi han noi dung, theo doi.</a:t>
            </a:r>
          </a:p>
          <a:p>
            <a:pPr>
              <a:spcAft>
                <a:spcPts val="1400"/>
              </a:spcAft>
            </a:pPr>
            <a:r>
              <a:rPr sz="1900" b="1">
                <a:solidFill>
                  <a:srgbClr val="0E74B8"/>
                </a:solidFill>
                <a:latin typeface="Baloo 2"/>
              </a:rPr>
              <a:t>Tre 6-11 tuoi can "choi de hoc", khong can them bai tap kho. </a:t>
            </a:r>
            <a:r>
              <a:rPr sz="1900" b="0">
                <a:solidFill>
                  <a:srgbClr val="1E293B"/>
                </a:solidFill>
                <a:latin typeface="Baloo 2"/>
              </a:rPr>
              <a:t>Noi dung kho, giao dien so sai = tre bo sau vai phut.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B3D5C"/>
                </a:solidFill>
                <a:latin typeface="Baloo 2"/>
              </a:rPr>
              <a:t>San pham: the gioi luyen tap "Hanh trinh cua Be Heo"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71600"/>
            <a:ext cx="10881360" cy="27432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91640"/>
            <a:ext cx="5852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700" b="1">
                <a:solidFill>
                  <a:srgbClr val="0E74B8"/>
                </a:solidFill>
                <a:latin typeface="Baloo 2"/>
              </a:rPr>
              <a:t>5 vung dat = 5 lop hoc. </a:t>
            </a:r>
            <a:r>
              <a:rPr sz="1700" b="0">
                <a:solidFill>
                  <a:srgbClr val="1E293B"/>
                </a:solidFill>
                <a:latin typeface="Baloo 2"/>
              </a:rPr>
              <a:t>San choi (L1) -&gt; Thi tran (L2) -&gt; Rung ram (L3) -&gt; Thanh pho (L4) -&gt; Vu tru (L5): ban do hanh trinh tao cam giac phieu luu.</a:t>
            </a:r>
          </a:p>
          <a:p>
            <a:pPr>
              <a:spcAft>
                <a:spcPts val="1100"/>
              </a:spcAft>
            </a:pPr>
            <a:r>
              <a:rPr sz="1700" b="1">
                <a:solidFill>
                  <a:srgbClr val="0E74B8"/>
                </a:solidFill>
                <a:latin typeface="Baloo 2"/>
              </a:rPr>
              <a:t>Noi dung bam chuan. </a:t>
            </a:r>
            <a:r>
              <a:rPr sz="1700" b="0">
                <a:solidFill>
                  <a:srgbClr val="1E293B"/>
                </a:solidFill>
                <a:latin typeface="Baloo 2"/>
              </a:rPr>
              <a:t>~524 tu vung xay theo SGK Global Success (~60%) + Cambridge (~30%) - 79 chu de, moi lop mot pool rieng.</a:t>
            </a:r>
          </a:p>
          <a:p>
            <a:pPr>
              <a:spcAft>
                <a:spcPts val="1100"/>
              </a:spcAft>
            </a:pPr>
            <a:r>
              <a:rPr sz="1700" b="1">
                <a:solidFill>
                  <a:srgbClr val="0E74B8"/>
                </a:solidFill>
                <a:latin typeface="Baloo 2"/>
              </a:rPr>
              <a:t>4 vong luyen da dang. </a:t>
            </a:r>
            <a:r>
              <a:rPr sz="1700" b="0">
                <a:solidFill>
                  <a:srgbClr val="1E293B"/>
                </a:solidFill>
                <a:latin typeface="Baloo 2"/>
              </a:rPr>
              <a:t>Bat chu cai thua, nghe-dien tu, ghi am phat am, ghep hinh-mo ta - co cham diem va giai thich tieng Viet.</a:t>
            </a:r>
          </a:p>
          <a:p>
            <a:pPr>
              <a:spcAft>
                <a:spcPts val="1100"/>
              </a:spcAft>
            </a:pPr>
            <a:r>
              <a:rPr sz="1700" b="1">
                <a:solidFill>
                  <a:srgbClr val="0E74B8"/>
                </a:solidFill>
                <a:latin typeface="Baloo 2"/>
              </a:rPr>
              <a:t>Gamification day du. </a:t>
            </a:r>
            <a:r>
              <a:rPr sz="1700" b="0">
                <a:solidFill>
                  <a:srgbClr val="1E293B"/>
                </a:solidFill>
                <a:latin typeface="Baloo 2"/>
              </a:rPr>
              <a:t>Ngan hang sao, streak ngay, album huy hieu, confetti, star rain, rong kho bau - tre quay lai moi ngay.</a:t>
            </a:r>
          </a:p>
          <a:p>
            <a:pPr>
              <a:spcAft>
                <a:spcPts val="1100"/>
              </a:spcAft>
            </a:pPr>
            <a:r>
              <a:rPr sz="1700" b="1">
                <a:solidFill>
                  <a:srgbClr val="0E74B8"/>
                </a:solidFill>
                <a:latin typeface="Baloo 2"/>
              </a:rPr>
              <a:t>Che do lop hoc cho truong. </a:t>
            </a:r>
            <a:r>
              <a:rPr sz="1700" b="0">
                <a:solidFill>
                  <a:srgbClr val="1E293B"/>
                </a:solidFill>
                <a:latin typeface="Baloo 2"/>
              </a:rPr>
              <a:t>Admin cap tai khoan username+PIN (khong can email/PII), giao lop, mo khoa noi dung theo lop.</a:t>
            </a:r>
          </a:p>
        </p:txBody>
      </p:sp>
      <p:pic>
        <p:nvPicPr>
          <p:cNvPr id="5" name="Picture 4" descr="cr12-prod-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645920"/>
            <a:ext cx="5120640" cy="3200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675120" y="60350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64748B"/>
                </a:solidFill>
                <a:latin typeface="Baloo 2"/>
              </a:rPr>
              <a:t>Ban do hanh trinh: 5 vung dat - 5 lop hoc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D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Baloo 2"/>
              </a:rPr>
              <a:t>Diem manh nhat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DE68A"/>
                </a:solidFill>
                <a:latin typeface="Baloo 2"/>
              </a:rPr>
              <a:t>Duy nhat tren thi truong: noi dung bam SGK tieu hoc Viet Nam</a:t>
            </a:r>
          </a:p>
          <a:p>
            <a:pPr algn="l"/>
            <a:r>
              <a:rPr sz="2600" b="1" i="0">
                <a:solidFill>
                  <a:srgbClr val="FDE68A"/>
                </a:solidFill>
                <a:latin typeface="Baloo 2"/>
              </a:rPr>
              <a:t>trong mot trai nghiem gamified dang cap quoc 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651760"/>
            <a:ext cx="3611880" cy="3291840"/>
          </a:xfrm>
          <a:prstGeom prst="roundRect">
            <a:avLst/>
          </a:prstGeom>
          <a:solidFill>
            <a:srgbClr val="124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2651760"/>
            <a:ext cx="3611880" cy="109728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92608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59669"/>
                </a:solidFill>
                <a:latin typeface="Baloo 2"/>
              </a:rPr>
              <a:t>DUNG CHUAN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566160"/>
            <a:ext cx="3108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E0F2FE"/>
                </a:solidFill>
                <a:latin typeface="Baloo 2"/>
              </a:rPr>
              <a:t>Bam SGK Global Success</a:t>
            </a:r>
          </a:p>
          <a:p>
            <a:pPr algn="l"/>
            <a:r>
              <a:rPr sz="1700" b="0" i="0">
                <a:solidFill>
                  <a:srgbClr val="E0F2FE"/>
                </a:solidFill>
                <a:latin typeface="Baloo 2"/>
              </a:rPr>
              <a:t>cua Bo GD&amp;DT + Cambridge.</a:t>
            </a:r>
          </a:p>
          <a:p>
            <a:pPr algn="l"/>
            <a:r>
              <a:rPr sz="1700" b="0" i="0">
                <a:solidFill>
                  <a:srgbClr val="E0F2FE"/>
                </a:solidFill>
                <a:latin typeface="Baloo 2"/>
              </a:rPr>
              <a:t>Khong phai noi dung chung chung</a:t>
            </a:r>
          </a:p>
          <a:p>
            <a:pPr algn="l"/>
            <a:r>
              <a:rPr sz="1700" b="0" i="0">
                <a:solidFill>
                  <a:srgbClr val="E0F2FE"/>
                </a:solidFill>
                <a:latin typeface="Baloo 2"/>
              </a:rPr>
              <a:t>quoc te "dich lai".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6280" y="2651760"/>
            <a:ext cx="3611880" cy="3291840"/>
          </a:xfrm>
          <a:prstGeom prst="roundRect">
            <a:avLst/>
          </a:prstGeom>
          <a:solidFill>
            <a:srgbClr val="124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26280" y="2651760"/>
            <a:ext cx="3611880" cy="109728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00600" y="292608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D97706"/>
                </a:solidFill>
                <a:latin typeface="Baloo 2"/>
              </a:rPr>
              <a:t>GAY NGHIEN (lanh manh)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600" y="3566160"/>
            <a:ext cx="3108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E0F2FE"/>
                </a:solidFill>
                <a:latin typeface="Baloo 2"/>
              </a:rPr>
              <a:t>Mascot Be Heo dong hanh,</a:t>
            </a:r>
          </a:p>
          <a:p>
            <a:pPr algn="l"/>
            <a:r>
              <a:rPr sz="1700" b="0" i="0">
                <a:solidFill>
                  <a:srgbClr val="E0F2FE"/>
                </a:solidFill>
                <a:latin typeface="Baloo 2"/>
              </a:rPr>
              <a:t>sao-streak-huy hieu, 5 vung dat.</a:t>
            </a:r>
          </a:p>
          <a:p>
            <a:pPr algn="l"/>
            <a:r>
              <a:rPr sz="1700" b="0" i="0">
                <a:solidFill>
                  <a:srgbClr val="E0F2FE"/>
                </a:solidFill>
                <a:latin typeface="Baloo 2"/>
              </a:rPr>
              <a:t>Tre tu giac luyen moi ngay -</a:t>
            </a:r>
          </a:p>
          <a:p>
            <a:pPr algn="l"/>
            <a:r>
              <a:rPr sz="1700" b="0" i="0">
                <a:solidFill>
                  <a:srgbClr val="E0F2FE"/>
                </a:solidFill>
                <a:latin typeface="Baloo 2"/>
              </a:rPr>
              <a:t>khong can phu huynh nhac.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0" y="2651760"/>
            <a:ext cx="3611880" cy="3291840"/>
          </a:xfrm>
          <a:prstGeom prst="roundRect">
            <a:avLst/>
          </a:prstGeom>
          <a:solidFill>
            <a:srgbClr val="124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412480" y="2651760"/>
            <a:ext cx="3611880" cy="109728"/>
          </a:xfrm>
          <a:prstGeom prst="roundRect">
            <a:avLst/>
          </a:prstGeom>
          <a:solidFill>
            <a:srgbClr val="0E7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0" y="292608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E74B8"/>
                </a:solidFill>
                <a:latin typeface="Baloo 2"/>
              </a:rPr>
              <a:t>DE TRIEN KHAI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3566160"/>
            <a:ext cx="3108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E0F2FE"/>
                </a:solidFill>
                <a:latin typeface="Baloo 2"/>
              </a:rPr>
              <a:t>Web app, khong cai dat,</a:t>
            </a:r>
          </a:p>
          <a:p>
            <a:pPr algn="l"/>
            <a:r>
              <a:rPr sz="1700" b="0" i="0">
                <a:solidFill>
                  <a:srgbClr val="E0F2FE"/>
                </a:solidFill>
                <a:latin typeface="Baloo 2"/>
              </a:rPr>
              <a:t>chay tren moi thiet bi.</a:t>
            </a:r>
          </a:p>
          <a:p>
            <a:pPr algn="l"/>
            <a:r>
              <a:rPr sz="1700" b="0" i="0">
                <a:solidFill>
                  <a:srgbClr val="E0F2FE"/>
                </a:solidFill>
                <a:latin typeface="Baloo 2"/>
              </a:rPr>
              <a:t>Admin cap lop trong 5 phut,</a:t>
            </a:r>
          </a:p>
          <a:p>
            <a:pPr algn="l"/>
            <a:r>
              <a:rPr sz="1700" b="0" i="0">
                <a:solidFill>
                  <a:srgbClr val="E0F2FE"/>
                </a:solidFill>
                <a:latin typeface="Baloo 2"/>
              </a:rPr>
              <a:t>khong thu thap PII tre em.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B3D5C"/>
                </a:solidFill>
                <a:latin typeface="Baloo 2"/>
              </a:rPr>
              <a:t>So sanh doi thu: Heopia chien thang o dau?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1133856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810512"/>
                <a:gridCol w="1810512"/>
                <a:gridCol w="1810512"/>
                <a:gridCol w="1810512"/>
                <a:gridCol w="1810512"/>
              </a:tblGrid>
              <a:tr h="6400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Baloo 2"/>
                        </a:rPr>
                        <a:t>Tieu chi</a:t>
                      </a:r>
                    </a:p>
                  </a:txBody>
                  <a:tcPr marL="73152" marR="54864" marT="27432" marB="27432" anchor="ctr"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Baloo 2"/>
                        </a:rPr>
                        <a:t>HEOPIA</a:t>
                      </a:r>
                    </a:p>
                  </a:txBody>
                  <a:tcPr marL="73152" marR="54864" marT="27432" marB="27432" anchor="ctr">
                    <a:solidFill>
                      <a:srgbClr val="05966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Baloo 2"/>
                        </a:rPr>
                        <a:t>Monkey Junior / VMonkey</a:t>
                      </a:r>
                    </a:p>
                  </a:txBody>
                  <a:tcPr marL="73152" marR="54864" marT="27432" marB="27432" anchor="ctr"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Baloo 2"/>
                        </a:rPr>
                        <a:t>Duolingo ABC</a:t>
                      </a:r>
                    </a:p>
                  </a:txBody>
                  <a:tcPr marL="73152" marR="54864" marT="27432" marB="27432" anchor="ctr"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Baloo 2"/>
                        </a:rPr>
                        <a:t>Khan Academy Kids</a:t>
                      </a:r>
                    </a:p>
                  </a:txBody>
                  <a:tcPr marL="73152" marR="54864" marT="27432" marB="27432" anchor="ctr"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Baloo 2"/>
                        </a:rPr>
                        <a:t>ioe.vn / luyen thi truyen thong</a:t>
                      </a:r>
                    </a:p>
                  </a:txBody>
                  <a:tcPr marL="73152" marR="54864" marT="27432" marB="27432" anchor="ctr">
                    <a:solidFill>
                      <a:srgbClr val="0B3D5C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Baloo 2"/>
                        </a:rPr>
                        <a:t>Bam SGK Viet Nam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B3D5C"/>
                          </a:solidFill>
                          <a:latin typeface="Baloo 2"/>
                        </a:rPr>
                        <a:t>CO - xay theo Global Success</a:t>
                      </a:r>
                    </a:p>
                  </a:txBody>
                  <a:tcPr marL="73152" marR="54864" marT="27432" marB="27432" anchor="ctr"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Baloo 2"/>
                        </a:rPr>
                        <a:t>Mot phan, chuong trinh rieng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Baloo 2"/>
                        </a:rPr>
                        <a:t>KHONG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Baloo 2"/>
                        </a:rPr>
                        <a:t>KHONG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Baloo 2"/>
                        </a:rPr>
                        <a:t>CO - nhung hinh thuc thi cu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Baloo 2"/>
                        </a:rPr>
                        <a:t>Gia / mo hinh</a:t>
                      </a:r>
                    </a:p>
                  </a:txBody>
                  <a:tcPr marL="73152" marR="54864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B3D5C"/>
                          </a:solidFill>
                          <a:latin typeface="Baloo 2"/>
                        </a:rPr>
                        <a:t>Lop hoc gia thap, guest free</a:t>
                      </a:r>
                    </a:p>
                  </a:txBody>
                  <a:tcPr marL="73152" marR="54864" marT="27432" marB="27432" anchor="ctr"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Baloo 2"/>
                        </a:rPr>
                        <a:t>Tra phi cao (~2-3tr/nam)</a:t>
                      </a:r>
                    </a:p>
                  </a:txBody>
                  <a:tcPr marL="73152" marR="54864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Baloo 2"/>
                        </a:rPr>
                        <a:t>Free/premium</a:t>
                      </a:r>
                    </a:p>
                  </a:txBody>
                  <a:tcPr marL="73152" marR="54864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Baloo 2"/>
                        </a:rPr>
                        <a:t>Free (My)</a:t>
                      </a:r>
                    </a:p>
                  </a:txBody>
                  <a:tcPr marL="73152" marR="54864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Baloo 2"/>
                        </a:rPr>
                        <a:t>Phi thi/luyen tap</a:t>
                      </a:r>
                    </a:p>
                  </a:txBody>
                  <a:tcPr marL="73152" marR="54864" marT="27432" marB="27432" anchor="ctr">
                    <a:solidFill>
                      <a:srgbClr val="F1F5F9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Baloo 2"/>
                        </a:rPr>
                        <a:t>Khong can cai app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B3D5C"/>
                          </a:solidFill>
                          <a:latin typeface="Baloo 2"/>
                        </a:rPr>
                        <a:t>CO - web, moi thiet bi</a:t>
                      </a:r>
                    </a:p>
                  </a:txBody>
                  <a:tcPr marL="73152" marR="54864" marT="27432" marB="27432" anchor="ctr"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Baloo 2"/>
                        </a:rPr>
                        <a:t>Native app nang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Baloo 2"/>
                        </a:rPr>
                        <a:t>Native app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Baloo 2"/>
                        </a:rPr>
                        <a:t>Native app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Baloo 2"/>
                        </a:rPr>
                        <a:t>Web nhung UX cu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Baloo 2"/>
                        </a:rPr>
                        <a:t>Cong cu cho lop/truong</a:t>
                      </a:r>
                    </a:p>
                  </a:txBody>
                  <a:tcPr marL="73152" marR="54864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B3D5C"/>
                          </a:solidFill>
                          <a:latin typeface="Baloo 2"/>
                        </a:rPr>
                        <a:t>CO - lop, cap PIN, mo khoa noi dung</a:t>
                      </a:r>
                    </a:p>
                  </a:txBody>
                  <a:tcPr marL="73152" marR="54864" marT="27432" marB="27432" anchor="ctr"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Baloo 2"/>
                        </a:rPr>
                        <a:t>Khong/han che</a:t>
                      </a:r>
                    </a:p>
                  </a:txBody>
                  <a:tcPr marL="73152" marR="54864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Baloo 2"/>
                        </a:rPr>
                        <a:t>KHONG</a:t>
                      </a:r>
                    </a:p>
                  </a:txBody>
                  <a:tcPr marL="73152" marR="54864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Baloo 2"/>
                        </a:rPr>
                        <a:t>Han che</a:t>
                      </a:r>
                    </a:p>
                  </a:txBody>
                  <a:tcPr marL="73152" marR="54864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Baloo 2"/>
                        </a:rPr>
                        <a:t>Co nhung khong linh hoat</a:t>
                      </a:r>
                    </a:p>
                  </a:txBody>
                  <a:tcPr marL="73152" marR="54864" marT="27432" marB="27432" anchor="ctr">
                    <a:solidFill>
                      <a:srgbClr val="F1F5F9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Baloo 2"/>
                        </a:rPr>
                        <a:t>Gamification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B3D5C"/>
                          </a:solidFill>
                          <a:latin typeface="Baloo 2"/>
                        </a:rPr>
                        <a:t>Map 5 vung dat + sao + streak + huy hieu</a:t>
                      </a:r>
                    </a:p>
                  </a:txBody>
                  <a:tcPr marL="73152" marR="54864" marT="27432" marB="27432" anchor="ctr"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Baloo 2"/>
                        </a:rPr>
                        <a:t>Coin + pet + truyen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Baloo 2"/>
                        </a:rPr>
                        <a:t>Streak + gem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Baloo 2"/>
                        </a:rPr>
                        <a:t>It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Baloo 2"/>
                        </a:rPr>
                        <a:t>Khong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Baloo 2"/>
                        </a:rPr>
                        <a:t>Phat am (ghi am cham)</a:t>
                      </a:r>
                    </a:p>
                  </a:txBody>
                  <a:tcPr marL="73152" marR="54864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B3D5C"/>
                          </a:solidFill>
                          <a:latin typeface="Baloo 2"/>
                        </a:rPr>
                        <a:t>CO - SpeechRecognition + diem gan dung</a:t>
                      </a:r>
                    </a:p>
                  </a:txBody>
                  <a:tcPr marL="73152" marR="54864" marT="27432" marB="27432" anchor="ctr"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Baloo 2"/>
                        </a:rPr>
                        <a:t>Mot phan</a:t>
                      </a:r>
                    </a:p>
                  </a:txBody>
                  <a:tcPr marL="73152" marR="54864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Baloo 2"/>
                        </a:rPr>
                        <a:t>KHONG</a:t>
                      </a:r>
                    </a:p>
                  </a:txBody>
                  <a:tcPr marL="73152" marR="54864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Baloo 2"/>
                        </a:rPr>
                        <a:t>KHONG</a:t>
                      </a:r>
                    </a:p>
                  </a:txBody>
                  <a:tcPr marL="73152" marR="54864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Baloo 2"/>
                        </a:rPr>
                        <a:t>Khong</a:t>
                      </a:r>
                    </a:p>
                  </a:txBody>
                  <a:tcPr marL="73152" marR="54864" marT="27432" marB="27432" anchor="ctr">
                    <a:solidFill>
                      <a:srgbClr val="F1F5F9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Baloo 2"/>
                        </a:rPr>
                        <a:t>Do tuoi phu hop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B3D5C"/>
                          </a:solidFill>
                          <a:latin typeface="Baloo 2"/>
                        </a:rPr>
                        <a:t>6-11 (tieu hoc VN)</a:t>
                      </a:r>
                    </a:p>
                  </a:txBody>
                  <a:tcPr marL="73152" marR="54864" marT="27432" marB="27432" anchor="ctr"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Baloo 2"/>
                        </a:rPr>
                        <a:t>0-10 (rong)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Baloo 2"/>
                        </a:rPr>
                        <a:t>3-8 (My)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Baloo 2"/>
                        </a:rPr>
                        <a:t>2-8 (My)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Baloo 2"/>
                        </a:rPr>
                        <a:t>Thi cu, khong "choi"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B3D5C"/>
                </a:solidFill>
                <a:latin typeface="Baloo 2"/>
              </a:rPr>
              <a:t>Mo hinh ban hang de xuat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71600"/>
            <a:ext cx="10881360" cy="27432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3611880" cy="3566160"/>
          </a:xfrm>
          <a:prstGeom prst="roundRect">
            <a:avLst/>
          </a:prstGeom>
          <a:solidFill>
            <a:srgbClr val="F0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3611880" cy="109728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659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59669"/>
                </a:solidFill>
                <a:latin typeface="Baloo 2"/>
              </a:rPr>
              <a:t>GOI LOP HOC (B2B2C)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60320"/>
            <a:ext cx="3154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E293B"/>
                </a:solidFill>
                <a:latin typeface="Baloo 2"/>
              </a:rPr>
              <a:t>Truong/TT mua theo lop</a:t>
            </a:r>
          </a:p>
          <a:p>
            <a:pPr algn="l"/>
            <a:r>
              <a:rPr sz="1600" b="0" i="0">
                <a:solidFill>
                  <a:srgbClr val="1E293B"/>
                </a:solidFill>
                <a:latin typeface="Baloo 2"/>
              </a:rPr>
              <a:t>- Admin cap tai khoan PIN, khong can email</a:t>
            </a:r>
          </a:p>
          <a:p>
            <a:pPr algn="l"/>
            <a:r>
              <a:rPr sz="1600" b="0" i="0">
                <a:solidFill>
                  <a:srgbClr val="1E293B"/>
                </a:solidFill>
                <a:latin typeface="Baloo 2"/>
              </a:rPr>
              <a:t>- Mo khoa noi dung theo khoi lop</a:t>
            </a:r>
          </a:p>
          <a:p>
            <a:pPr algn="l"/>
            <a:r>
              <a:rPr sz="1600" b="0" i="0">
                <a:solidFill>
                  <a:srgbClr val="1E293B"/>
                </a:solidFill>
                <a:latin typeface="Baloo 2"/>
              </a:rPr>
              <a:t>- De xuat: 30-50k/HS/nam (re hon sach bai tap)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6280" y="1737360"/>
            <a:ext cx="3611880" cy="3566160"/>
          </a:xfrm>
          <a:prstGeom prst="roundRect">
            <a:avLst/>
          </a:prstGeom>
          <a:solidFill>
            <a:srgbClr val="F0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26280" y="1737360"/>
            <a:ext cx="3611880" cy="109728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00600" y="19659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D97706"/>
                </a:solidFill>
                <a:latin typeface="Baloo 2"/>
              </a:rPr>
              <a:t>GOI PHU HUYNH (B2C)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600" y="2560320"/>
            <a:ext cx="3154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E293B"/>
                </a:solidFill>
                <a:latin typeface="Baloo 2"/>
              </a:rPr>
              <a:t>Mua truc tiep cho con</a:t>
            </a:r>
          </a:p>
          <a:p>
            <a:pPr algn="l"/>
            <a:r>
              <a:rPr sz="1600" b="0" i="0">
                <a:solidFill>
                  <a:srgbClr val="1E293B"/>
                </a:solidFill>
                <a:latin typeface="Baloo 2"/>
              </a:rPr>
              <a:t>- Toan bo 5 khoi lop</a:t>
            </a:r>
          </a:p>
          <a:p>
            <a:pPr algn="l"/>
            <a:r>
              <a:rPr sz="1600" b="0" i="0">
                <a:solidFill>
                  <a:srgbClr val="1E293B"/>
                </a:solidFill>
                <a:latin typeface="Baloo 2"/>
              </a:rPr>
              <a:t>- Tu luyen khong gioi han</a:t>
            </a:r>
          </a:p>
          <a:p>
            <a:pPr algn="l"/>
            <a:r>
              <a:rPr sz="1600" b="0" i="0">
                <a:solidFill>
                  <a:srgbClr val="1E293B"/>
                </a:solidFill>
                <a:latin typeface="Baloo 2"/>
              </a:rPr>
              <a:t>- De xuat: 199-299k/nam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0" y="1737360"/>
            <a:ext cx="3611880" cy="3566160"/>
          </a:xfrm>
          <a:prstGeom prst="roundRect">
            <a:avLst/>
          </a:prstGeom>
          <a:solidFill>
            <a:srgbClr val="F0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412480" y="1737360"/>
            <a:ext cx="3611880" cy="109728"/>
          </a:xfrm>
          <a:prstGeom prst="roundRect">
            <a:avLst/>
          </a:prstGeom>
          <a:solidFill>
            <a:srgbClr val="0E7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0" y="19659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E74B8"/>
                </a:solidFill>
                <a:latin typeface="Baloo 2"/>
              </a:rPr>
              <a:t>FREE / GUEST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2560320"/>
            <a:ext cx="3154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E293B"/>
                </a:solidFill>
                <a:latin typeface="Baloo 2"/>
              </a:rPr>
              <a:t>Thu phi luc 0</a:t>
            </a:r>
          </a:p>
          <a:p>
            <a:pPr algn="l"/>
            <a:r>
              <a:rPr sz="1600" b="0" i="0">
                <a:solidFill>
                  <a:srgbClr val="1E293B"/>
                </a:solidFill>
                <a:latin typeface="Baloo 2"/>
              </a:rPr>
              <a:t>- Choi ngay khong tai khoan</a:t>
            </a:r>
          </a:p>
          <a:p>
            <a:pPr algn="l"/>
            <a:r>
              <a:rPr sz="1600" b="0" i="0">
                <a:solidFill>
                  <a:srgbClr val="1E293B"/>
                </a:solidFill>
                <a:latin typeface="Baloo 2"/>
              </a:rPr>
              <a:t>- Gioi han trai nghiem de dan den mua</a:t>
            </a:r>
          </a:p>
          <a:p>
            <a:pPr algn="l"/>
            <a:r>
              <a:rPr sz="1600" b="0" i="0">
                <a:solidFill>
                  <a:srgbClr val="1E293B"/>
                </a:solidFill>
                <a:latin typeface="Baloo 2"/>
              </a:rPr>
              <a:t>- Kenh marketing tu nhien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5778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64748B"/>
                </a:solidFill>
                <a:latin typeface="Baloo 2"/>
              </a:rPr>
              <a:t>Chi phi van hanh rat thap: Vercel + Supabase free/du nho -&gt; bien loi nhuan cao.</a:t>
            </a:r>
          </a:p>
          <a:p>
            <a:pPr algn="l"/>
            <a:r>
              <a:rPr sz="1600" b="0" i="0">
                <a:solidFill>
                  <a:srgbClr val="64748B"/>
                </a:solidFill>
                <a:latin typeface="Baloo 2"/>
              </a:rPr>
              <a:t>Domain de xuat: heopia.com (~250k/nam), subdomain mien phi cho moi san pham/app tiep theo.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B3D5C"/>
                </a:solidFill>
                <a:latin typeface="Baloo 2"/>
              </a:rPr>
              <a:t>Huong dan 1: Dang nhap - hoac choi ngay mien phi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234440"/>
            <a:ext cx="10881360" cy="27432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r12-prod-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1508760"/>
            <a:ext cx="7863840" cy="49149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64748B"/>
                </a:solidFill>
                <a:latin typeface="Baloo 2"/>
              </a:rPr>
              <a:t>Hoc sinh dang nhap bang username + PIN (admin cap) - khong can email. Phu huynh/tre co the "Choi khong can tai khoan" de thu ngay.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B3D5C"/>
                </a:solidFill>
                <a:latin typeface="Baloo 2"/>
              </a:rPr>
              <a:t>Huong dan 2: Chon vung dat = khoi lop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234440"/>
            <a:ext cx="10881360" cy="27432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r12-prod-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1508760"/>
            <a:ext cx="7863840" cy="49149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64748B"/>
                </a:solidFill>
                <a:latin typeface="Baloo 2"/>
              </a:rPr>
              <a:t>Ban do hanh trinh 5 vung dat. Chip sao + streak + huy hieu hien tien do tich luy ngay tren ban do.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B3D5C"/>
                </a:solidFill>
                <a:latin typeface="Baloo 2"/>
              </a:rPr>
              <a:t>Huong dan 3: Lam bai - phan hoi tuc thi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234440"/>
            <a:ext cx="10881360" cy="27432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r12-feedb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1508760"/>
            <a:ext cx="7863840" cy="49149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64748B"/>
                </a:solidFill>
                <a:latin typeface="Baloo 2"/>
              </a:rPr>
              <a:t>Cau hoi da dang: chon chu cai thua, nghe-dien, ghep hinh, phat am. Dung -&gt; confetti + giai thich; sai -&gt; goi y nhe nhang.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B3D5C"/>
                </a:solidFill>
                <a:latin typeface="Baloo 2"/>
              </a:rPr>
              <a:t>Huong dan 4: Choi moi luc moi noi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234440"/>
            <a:ext cx="10881360" cy="27432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r12-mobile-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1417320"/>
            <a:ext cx="2239413" cy="4846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64748B"/>
                </a:solidFill>
                <a:latin typeface="Baloo 2"/>
              </a:rPr>
              <a:t>Giao dien responsive hoan chinh tren dien thoai: nut lon de bam, CTA day man hinh, khong can keo ngang.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D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Baloo 2"/>
              </a:rPr>
              <a:t>Buoc tiep theo de ra thi truong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645920"/>
            <a:ext cx="10881360" cy="896112"/>
          </a:xfrm>
          <a:prstGeom prst="roundRect">
            <a:avLst/>
          </a:prstGeom>
          <a:solidFill>
            <a:srgbClr val="124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755648"/>
            <a:ext cx="4023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DE68A"/>
                </a:solidFill>
                <a:latin typeface="Baloo 2"/>
              </a:rPr>
              <a:t>1. Mua domain + dung landing page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0" y="1755648"/>
            <a:ext cx="6583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0F2FE"/>
                </a:solidFill>
                <a:latin typeface="Baloo 2"/>
              </a:rPr>
              <a:t>heopia.com (~250k/nam, Cloudflare/Porkbun). Subdomain free cho app 2 trong presale.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97480"/>
            <a:ext cx="10881360" cy="896112"/>
          </a:xfrm>
          <a:prstGeom prst="roundRect">
            <a:avLst/>
          </a:prstGeom>
          <a:solidFill>
            <a:srgbClr val="124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807208"/>
            <a:ext cx="4023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DE68A"/>
                </a:solidFill>
                <a:latin typeface="Baloo 2"/>
              </a:rPr>
              <a:t>2. Pilot 1-2 lop mau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2807208"/>
            <a:ext cx="6583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0F2FE"/>
                </a:solidFill>
                <a:latin typeface="Baloo 2"/>
              </a:rPr>
              <a:t>Dung san console admin: cap PIN cho 1 lop, do muc do su dung sau 2 tuan.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749039"/>
            <a:ext cx="10881360" cy="896112"/>
          </a:xfrm>
          <a:prstGeom prst="roundRect">
            <a:avLst/>
          </a:prstGeom>
          <a:solidFill>
            <a:srgbClr val="124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858767"/>
            <a:ext cx="4023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DE68A"/>
                </a:solidFill>
                <a:latin typeface="Baloo 2"/>
              </a:rPr>
              <a:t>3. Dong goi goi gia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3858767"/>
            <a:ext cx="6583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0F2FE"/>
                </a:solidFill>
                <a:latin typeface="Baloo 2"/>
              </a:rPr>
              <a:t>Chot gia lop hoc + phu huynh; lam trang thanh toan/dang ky don gian.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800600"/>
            <a:ext cx="10881360" cy="896112"/>
          </a:xfrm>
          <a:prstGeom prst="roundRect">
            <a:avLst/>
          </a:prstGeom>
          <a:solidFill>
            <a:srgbClr val="124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910328"/>
            <a:ext cx="4023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DE68A"/>
                </a:solidFill>
                <a:latin typeface="Baloo 2"/>
              </a:rPr>
              <a:t>4. Content mo rong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4910328"/>
            <a:ext cx="6583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0F2FE"/>
                </a:solidFill>
                <a:latin typeface="Baloo 2"/>
              </a:rPr>
              <a:t>Them chu de theo feedback lop pilot; da co khung scale 524 tu -&gt; hang nghin.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126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D97706"/>
                </a:solidFill>
                <a:latin typeface="Baloo 2"/>
              </a:rPr>
              <a:t>Demo truc tiep: ioe-leduyminh.vercel.app  -  "Choi khong can tai khoan"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