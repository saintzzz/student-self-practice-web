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4480560"/>
            <a:ext cx="3108960" cy="3108960"/>
          </a:xfrm>
          <a:prstGeom prst="ellipse">
            <a:avLst/>
          </a:prstGeom>
          <a:solidFill>
            <a:srgbClr val="16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005840" y="4846320"/>
            <a:ext cx="2926080" cy="2926080"/>
          </a:xfrm>
          <a:prstGeom prst="ellipse">
            <a:avLst/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PROPOSAL BÁN HÀNG - 2026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Segoe UI"/>
              </a:rPr>
              <a:t>VIESCHOOL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Hệ sinh thái số cho trường tiểu học Việt Nam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3 sản phẩm - 1 nền tảng - 1 tài khoản: luyện tiếng Anh cho học sinh, công cụ số cho giáo viên, sổ chủ nhiệm điện tử cho nhà trường.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069080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English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Luyện tiếng Anh G1-5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4069080"/>
            <a:ext cx="64008" cy="8686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5576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Công cụ số giáo viên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43016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43016" y="4069080"/>
            <a:ext cx="64008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44183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Sổ CN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4183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Sổ chủ nhiệm điện tử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Segoe UI"/>
              </a:rPr>
              <a:t>vieschool.vn - vieschool.com</a:t>
            </a:r>
            <a:r>
              <a:rPr sz="1200" b="0">
                <a:solidFill>
                  <a:srgbClr val="64748B"/>
                </a:solidFill>
                <a:latin typeface="Segoe UI"/>
              </a:rPr>
              <a:t>   |   bởi đội phát triển sản phẩm giáo dục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1051560"/>
            <a:ext cx="301752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207008"/>
            <a:ext cx="2743200" cy="1714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0" y="55961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Bản đồ hành trình 5 vùng đất - VieSchool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VẤN ĐỀ THỊ TRƯỜNG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Trường tiểu học VN đang thiếu một hệ sinh thái số thực sự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82296" cy="2084831"/>
          </a:xfrm>
          <a:prstGeom prst="rect">
            <a:avLst/>
          </a:prstGeom>
          <a:solidFill>
            <a:srgbClr val="F4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892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Phụ huynh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1343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Con học tiếng Anh rời rạc: app nước ngoài không bám SGK, bài giấy không có phản hồi tức thì, không biết con tiến bộ ra sao.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2084831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892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Giáo viên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31343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Soạn bài, ra đề, nhập điểm, sổ chủ nhiệm thủ công tốn 10+ giờ/tuần. Công cụ rời rạc, không đồng bộ CTGDPT 2018.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77639"/>
            <a:ext cx="82296" cy="208483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1788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Nhà trường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5994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Chuyển đổi số theo NĐ giáo dục nhưng thiếu nền tảng một cửa: mỗi app một tài khoản, dữ liệu nằm rải rác.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77639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77639"/>
            <a:ext cx="82296" cy="2084831"/>
          </a:xfrm>
          <a:prstGeom prst="rect">
            <a:avLst/>
          </a:prstGeom>
          <a:solidFill>
            <a:srgbClr val="D97D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1788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Học sinh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5994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Bài tập khô khan, không có động lực tự luyện. Ứng dụng quốc tế đẹp nhưng sai chương trình; app VN đúng SGK nhưng giao diện lỗi thời.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GIẢI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Một hệ sinh thái - ba sản phẩm khép kín vòng học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365760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1417320" cy="885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31720" y="2011680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VieSchool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060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Luyện tiếng Anh Lớp 1-5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529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8902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ĐÃ RA MẮT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977639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Hành trình phiêu lưu 5 vùng đất cùng Bé Heo. 524 từ vựng bám Global Success + Cambridge, 4 vòng chơi: nghe, đọc, ghép cặp, phát âm. Sao thưởng, huy hiệu, chuỗi ngày học - trẻ tự luyện không cần nhắc.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691640"/>
            <a:ext cx="365760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659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VieSchool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3591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Công cụ số giáo viên (TVC360)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70662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76606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ĐÃ RA MẮT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1546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12 công cụ biên soạn học liệu theo CTGDPT 2018: ngân hàng câu hỏi, ma trận đề, soạn đề có công thức toán Word-native, hỗ trợ AI đa nhà cung cấp. Xuất DOCX/PDF chuẩn format nhà trường.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5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37575" y="1691640"/>
            <a:ext cx="3657600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19659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VieSchool Sổ CN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7" y="23591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Sổ chủ nhiệm điện tử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7" y="270662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7" y="276606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ĐANG PHÁT TRIỂN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7" y="31546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Số hóa sổ chủ nhiệm theo Điều lệ trường: điểm danh, hạnh kiểm, điểm số, nhận xét. Dữ liệu lớp học đồng bộ với 2 app còn lại - giáo viên chỉ nhập một lần.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SẢN PHẨM TRỤ CỘT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VieSchool English - app luyện tập trẻ tự mở mỗi ngày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Bám chương trình VN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524 từ vựng chọn lọc: ~60% Global Success, ~30% chủ đề Cambridge, ~10% SGK phổ biến khác. Luyện đúng điều trẻ đang học trên lớp.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99432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Thế giới phiêu lưu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5 vùng đất cho 5 lớp: Sân chơi - Thị trấn - Rừng rậm - Thành phố - Vũ trụ. Mỗi lớp là một hành trình, trẻ muốn 'mở đất' tiếp theo.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4 vòng luyện đủ 4 kỹ năng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Nghe điền từ - chọn nghĩa theo hình - ghép cặp từ/hình - phát âm có chấm điểm. Câu hỏi đúng form thi iOE quen thuộc.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Gamification có kiểm soát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Sao thưởng, huy hiệu, streak ngày học, rương kho báu - đủ hấp dẫn để trẻ quay lại, đủ sạch để phụ huynh yên tâm.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9432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Quản trị lớp học thật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Giáo viên tạo lớp, cấp tài khoản username + PIN không cần email, mở/khóa khối lớp theo phạm vi đăng ký.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39911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1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An toàn cho trẻ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Không quảng cáo, không chat, không mua trong app vô tình. Font lớn, nút chạm 76px, hỗ trợ giảm chuyển động.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ĐIỂM MẠNH NHẤT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Duy nhất trên thị trường: đúng SGK Việt + đẹp chuẩn quốc tế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201400" cy="1051560"/>
          </a:xfrm>
          <a:prstGeom prst="roundRect">
            <a:avLst>
              <a:gd name="adj" fmla="val 10000"/>
            </a:avLst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Đối thủ quốc tế đẹp nhưng sai chương trình. Đối thủ Việt đúng SGK nhưng khô khan. VieSchool làm cả hai - và đó là lý do trường trả tiền.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10128"/>
            <a:ext cx="603504" cy="60350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Nội dung bám sát SGK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Từ vựng, chủ đề, form câu hỏi map trực tiếp vào unit đang học. Giáo viên giao bài app = giao bài SGK.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26280" y="3310128"/>
            <a:ext cx="603504" cy="603504"/>
          </a:xfrm>
          <a:prstGeom prst="ellipse">
            <a:avLst/>
          </a:prstGeom>
          <a:solidFill>
            <a:srgbClr val="D97D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Trải nghiệm đẳng cấp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Thiết kế theo chuẩn Duolingo ABC / Khan Kids: thế giới nhân vật, phản hồi tức thì, nghi thức phần thưởng.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93607" y="3310128"/>
            <a:ext cx="603504" cy="6035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Hệ sinh thái thay vì app lẻ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7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Cùng 1 nền tảng với công cụ GV và sổ chủ nhiệm - trường mua 1 lần được 3 sản phẩm, dữ liệu thống nhất.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SO SÁNH ĐỐI THỦ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VieSchool English so với các lựa chọn hiện có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28346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71907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45920"/>
            <a:ext cx="210312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1719072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VieSchool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645920"/>
            <a:ext cx="21488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19072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Monkey Junior / VMonkey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645920"/>
            <a:ext cx="219456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1719072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Duolingo ABC / Khan Kids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645920"/>
            <a:ext cx="19202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93808" y="1719072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Luyện iOE truyền thống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1284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2286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Bám SGK VN (G1-5)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21284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2286000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ĐẦY ĐỦ - theo unit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212848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228600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Một phần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2212848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2286000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2212848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2860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Có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779776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8529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Đủ 4 kỹ năng (nghe-nói-đọc-ghép)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779776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7288" y="2852928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Đầy đủ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2779776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50408" y="2852928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Nghe-đọc chính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0" y="2779776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9248" y="285292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Nghe-đọc chính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0" y="2779776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93808" y="285292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Đọc-nghe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346704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3419856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Gamification / thế giới nhân vật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3346704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419856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5 vùng đất + mascot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346704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0408" y="3419856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Trung bình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20" y="3346704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99248" y="3419856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Rất tốt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84080" y="3346704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93808" y="3419856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913632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986784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Chất lượng UI trẻ em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913632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47288" y="3986784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Cao - chuẩn quốc tế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3913632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50408" y="3986784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Trung bình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89520" y="3913632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99248" y="3986784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Rất cao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84080" y="3913632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3808" y="398678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Thấp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80560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455371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Công cụ cho giáo viên + lớp học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37560" y="4480560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47288" y="4553712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Có - trong cùng nền tảng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40680" y="4480560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50408" y="4553712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480560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99248" y="4553712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84080" y="4480560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93808" y="4553712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Một phần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047488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512064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Giá cho trường học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5047488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47288" y="5120640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30-50k/HS/năm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40680" y="5047488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50408" y="512064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~1-2tr/năm/HS (B2C)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89520" y="5047488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99248" y="5120640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Miễn phí - không đúng SGK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784080" y="5047488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93808" y="512064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Rẻ nhưng khô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5779007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Segoe UI"/>
              </a:rPr>
              <a:t>Nhược điểm cần thừa nhận: thương hiệu mới, kho nội dung nhỏ hơn đối thủ lâu năm, chưa có bài giảng video - định vị là app LUYỆN TẬP bổ trợ, không thay giáo viên.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MÔ HÌNH THƯƠNG MẠI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Giá theo trường - không theo tính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Khách vãng lai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D97D06"/>
                </a:solidFill>
                <a:latin typeface="Segoe UI"/>
              </a:rPr>
              <a:t>MIỄN PHÍ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Chơi không cần tài khoản để trải nghiệm. Phễu marketing tự nhiên - phụ huynh cho con thử trước.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Gói phụ huynh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D97D06"/>
                </a:solidFill>
                <a:latin typeface="Segoe UI"/>
              </a:rPr>
              <a:t>199.000 - 299.000đ / năm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Mở đủ 5 khối lớp cho 1 bé, báo cáo tiến độ, sao và huy hiệu lưu vĩnh viễn.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0B1B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97696" y="1572768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6459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0B1B3A"/>
                </a:solidFill>
                <a:latin typeface="Segoe UI"/>
              </a:rPr>
              <a:t>KHUYÊN DÙNG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Gói trường / lớp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30.000 - 50.000đ / HS / năm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Console giáo viên: cấp tài khoản PIN, quản lý lớp, mở khối theo phạm vi. Kèm VieSchool Tools + Sổ CN khi triển khai nguyên trường.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Doanh thu mục tiêu: 1 trường 500 HS x 40k = 20 triệu/năm - bằng một phần nhỏ ngân sách chuyển đổi số mà trường đã phải chi.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Đăng nhập hoặc chơi ngay không cần tài khoản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prod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Phụ huynh/học sinh đăng nhập bằng username + PIN do giáo viên cấp - không cần email, không cần số điện thoại. Nút 'Chơi không cần tài khoản' cho trải nghiệm tức thì.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Chọn lớp trên bản đồ hành trình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Mỗi lớp là một vùng đất. Thẻ hiển thị số sao đã đạt; thanh trên cùng gồm ngân hàng sao, chuỗi ngày học liên tiếp và bộ sưu tập huy hiệu. Chạm vào vùng đất để bắt đầu.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Làm bài: 4 vòng, mỗi vòng 10 câu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Nghe và điền từ - bắn chữ cái thừa - chọn nghĩa theo hình - ghép cặp - đọc có chấm âm. Nút 'Nghe' to, đọc lại không giới hạn. Đúng có pháo giấy, sai hiện đáp án đúng ngay.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Phản hồi tức thì sau mỗi câu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Đúng: pháo giấy + giải thích ngắn. Sai: hiện đáp án đúng ngay, không phạt. Kết thúc vòng: 1-3 sao theo tỉ lệ đúng, sao rơi, huy hiệu mới, streak +1 ngày. Giao diện tự co giãn hoàn hảo từ điện thoại 320px tới desktop.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HẠ TẦNG VÀ LỘ TRÌNH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Một tên miền vieschool.vn - subdomain cho từng sản phẩm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577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B1B3A"/>
                </a:solidFill>
                <a:latin typeface="Segoe UI"/>
              </a:rPr>
              <a:t>Kiến trúc tên miền (subdomain miễn phí, không giới hạn)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vieschool.vn</a:t>
            </a:r>
            <a:r>
              <a:rPr sz="1050" b="0">
                <a:solidFill>
                  <a:srgbClr val="64748B"/>
                </a:solidFill>
                <a:latin typeface="Segoe UI"/>
              </a:rPr>
              <a:t>   Landing giới thiệu suite + form liên hệ trường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tienganh.vieschool.vn</a:t>
            </a:r>
            <a:r>
              <a:rPr sz="1050" b="0">
                <a:solidFill>
                  <a:srgbClr val="64748B"/>
                </a:solidFill>
                <a:latin typeface="Segoe UI"/>
              </a:rPr>
              <a:t>   VieSchool English - app luyện tập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1985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congcuso.vieschool.vn</a:t>
            </a:r>
            <a:r>
              <a:rPr sz="1050" b="0">
                <a:solidFill>
                  <a:srgbClr val="64748B"/>
                </a:solidFill>
                <a:latin typeface="Segoe UI"/>
              </a:rPr>
              <a:t>   VieSchool Tools - công cụ giáo viên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sochunhiem.vieschool.vn</a:t>
            </a:r>
            <a:r>
              <a:rPr sz="1050" b="0">
                <a:solidFill>
                  <a:srgbClr val="64748B"/>
                </a:solidFill>
                <a:latin typeface="Segoe UI"/>
              </a:rPr>
              <a:t>   VieSchool Sổ CN - sổ chủ nhiệm số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645920"/>
            <a:ext cx="53492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828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B1B3A"/>
                </a:solidFill>
                <a:latin typeface="Segoe UI"/>
              </a:rPr>
              <a:t>Chi phí tên miền khuyến nghị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286000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Segoe UI"/>
              </a:rPr>
              <a:t>vieschool.vn tại iNET - ~450.000đ/năm</a:t>
            </a:r>
            <a:r>
              <a:rPr sz="1050" b="0">
                <a:solidFill>
                  <a:srgbClr val="64748B"/>
                </a:solidFill>
                <a:latin typeface="Segoe UI"/>
              </a:rPr>
              <a:t>  (tin cậy với trường học VN, mua online 10 phút)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Segoe UI"/>
              </a:rPr>
              <a:t>vieschool.com tại Cloudflare - ~260.000đ/năm</a:t>
            </a:r>
            <a:r>
              <a:rPr sz="1050" b="0">
                <a:solidFill>
                  <a:srgbClr val="64748B"/>
                </a:solidFill>
                <a:latin typeface="Segoe UI"/>
              </a:rPr>
              <a:t>  (giá gốc, không tăng khi gia hạn; DNS mạnh, gắn Vercel 2 click)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D97D06"/>
                </a:solidFill>
                <a:latin typeface="Segoe UI"/>
              </a:rPr>
              <a:t>Tổng ~710.000đ/năm cho cả hệ sinh thái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8000"/>
            </a:avLst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Lộ trình 30-60-90 ngày:  (1) Mua domain + gắn Vercel, chạy pilot 1-2 lớp miễn phí để lấy case study - (2) Chốt gói trường, đẩy VieSchool Tools cho GV trường đó - (3) Hoàn thiện Sổ CN, bán nguyên suite theo năm học mới.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